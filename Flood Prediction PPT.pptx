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8288000" cy="10287000"/>
  <p:notesSz cx="6858000" cy="9144000"/>
  <p:embeddedFontLst>
    <p:embeddedFont>
      <p:font typeface="Klein" panose="020B0604020202020204" charset="0"/>
      <p:regular r:id="rId23"/>
    </p:embeddedFont>
    <p:embeddedFont>
      <p:font typeface="Klein Bold" panose="020B0604020202020204" charset="0"/>
      <p:regular r:id="rId24"/>
    </p:embeddedFont>
    <p:embeddedFont>
      <p:font typeface="Klein Heavy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4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4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EF1A0176-3411-B48C-180A-A209C795BBED}"/>
              </a:ext>
            </a:extLst>
          </p:cNvPr>
          <p:cNvGrpSpPr/>
          <p:nvPr/>
        </p:nvGrpSpPr>
        <p:grpSpPr>
          <a:xfrm>
            <a:off x="-859244" y="10782300"/>
            <a:ext cx="20006488" cy="2891773"/>
            <a:chOff x="0" y="0"/>
            <a:chExt cx="26675317" cy="3855697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18008B01-DAD4-0D2A-2DB7-77D2A938B5B3}"/>
                </a:ext>
              </a:extLst>
            </p:cNvPr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43E1175C-AB97-907E-B288-75BCB651EC9A}"/>
                </a:ext>
              </a:extLst>
            </p:cNvPr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F0A5A7B9-A4BB-A954-01C4-126EC6FFB0F7}"/>
                </a:ext>
              </a:extLst>
            </p:cNvPr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13">
              <a:extLst>
                <a:ext uri="{FF2B5EF4-FFF2-40B4-BE49-F238E27FC236}">
                  <a16:creationId xmlns:a16="http://schemas.microsoft.com/office/drawing/2014/main" id="{5BDB577E-2688-46C0-7169-72B09E906741}"/>
                </a:ext>
              </a:extLst>
            </p:cNvPr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7" name="Freeform 14">
                <a:extLst>
                  <a:ext uri="{FF2B5EF4-FFF2-40B4-BE49-F238E27FC236}">
                    <a16:creationId xmlns:a16="http://schemas.microsoft.com/office/drawing/2014/main" id="{B7080A7B-004F-6633-0F13-517C368594DA}"/>
                  </a:ext>
                </a:extLst>
              </p:cNvPr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15">
                <a:extLst>
                  <a:ext uri="{FF2B5EF4-FFF2-40B4-BE49-F238E27FC236}">
                    <a16:creationId xmlns:a16="http://schemas.microsoft.com/office/drawing/2014/main" id="{3816448E-AD7C-A08B-2DF6-A7CCDE60683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DF684953-062F-8105-D919-582E5F0FD723}"/>
              </a:ext>
            </a:extLst>
          </p:cNvPr>
          <p:cNvGrpSpPr/>
          <p:nvPr/>
        </p:nvGrpSpPr>
        <p:grpSpPr>
          <a:xfrm>
            <a:off x="9125856" y="7886700"/>
            <a:ext cx="8763000" cy="9931243"/>
            <a:chOff x="0" y="0"/>
            <a:chExt cx="660400" cy="74844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016C45F-E336-2C0C-39EB-557C3899BECA}"/>
                </a:ext>
              </a:extLst>
            </p:cNvPr>
            <p:cNvSpPr/>
            <p:nvPr/>
          </p:nvSpPr>
          <p:spPr>
            <a:xfrm>
              <a:off x="0" y="0"/>
              <a:ext cx="660400" cy="748441"/>
            </a:xfrm>
            <a:custGeom>
              <a:avLst/>
              <a:gdLst/>
              <a:ahLst/>
              <a:cxnLst/>
              <a:rect l="l" t="t" r="r" b="b"/>
              <a:pathLst>
                <a:path w="660400" h="74844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072"/>
                  </a:cubicBezTo>
                  <a:lnTo>
                    <a:pt x="660400" y="748441"/>
                  </a:lnTo>
                  <a:lnTo>
                    <a:pt x="0" y="748441"/>
                  </a:lnTo>
                  <a:lnTo>
                    <a:pt x="0" y="32738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BBA78929-F743-8179-DF4A-492BBCE4B38E}"/>
                </a:ext>
              </a:extLst>
            </p:cNvPr>
            <p:cNvSpPr txBox="1"/>
            <p:nvPr/>
          </p:nvSpPr>
          <p:spPr>
            <a:xfrm>
              <a:off x="0" y="98425"/>
              <a:ext cx="660400" cy="650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8">
            <a:extLst>
              <a:ext uri="{FF2B5EF4-FFF2-40B4-BE49-F238E27FC236}">
                <a16:creationId xmlns:a16="http://schemas.microsoft.com/office/drawing/2014/main" id="{29AE37B4-C3A1-7B02-1B42-7E3FE20144D3}"/>
              </a:ext>
            </a:extLst>
          </p:cNvPr>
          <p:cNvSpPr/>
          <p:nvPr/>
        </p:nvSpPr>
        <p:spPr>
          <a:xfrm>
            <a:off x="-7772400" y="2905496"/>
            <a:ext cx="7473522" cy="7753276"/>
          </a:xfrm>
          <a:custGeom>
            <a:avLst/>
            <a:gdLst/>
            <a:ahLst/>
            <a:cxnLst/>
            <a:rect l="l" t="t" r="r" b="b"/>
            <a:pathLst>
              <a:path w="7473522" h="7753276">
                <a:moveTo>
                  <a:pt x="0" y="0"/>
                </a:moveTo>
                <a:lnTo>
                  <a:pt x="7473522" y="0"/>
                </a:lnTo>
                <a:lnTo>
                  <a:pt x="7473522" y="7753276"/>
                </a:lnTo>
                <a:lnTo>
                  <a:pt x="0" y="7753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972"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67377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1143000"/>
            <a:ext cx="3810000" cy="762000"/>
            <a:chOff x="0" y="0"/>
            <a:chExt cx="716755" cy="143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6755" cy="143351"/>
            </a:xfrm>
            <a:custGeom>
              <a:avLst/>
              <a:gdLst/>
              <a:ahLst/>
              <a:cxnLst/>
              <a:rect l="l" t="t" r="r" b="b"/>
              <a:pathLst>
                <a:path w="716755" h="143351">
                  <a:moveTo>
                    <a:pt x="71675" y="0"/>
                  </a:moveTo>
                  <a:lnTo>
                    <a:pt x="645079" y="0"/>
                  </a:lnTo>
                  <a:cubicBezTo>
                    <a:pt x="684665" y="0"/>
                    <a:pt x="716755" y="32090"/>
                    <a:pt x="716755" y="71675"/>
                  </a:cubicBezTo>
                  <a:lnTo>
                    <a:pt x="716755" y="71675"/>
                  </a:lnTo>
                  <a:cubicBezTo>
                    <a:pt x="716755" y="90685"/>
                    <a:pt x="709203" y="108916"/>
                    <a:pt x="695762" y="122358"/>
                  </a:cubicBezTo>
                  <a:cubicBezTo>
                    <a:pt x="682320" y="135799"/>
                    <a:pt x="664089" y="143351"/>
                    <a:pt x="645079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6755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M. L. Project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3500" y="762000"/>
            <a:ext cx="8763000" cy="9931243"/>
            <a:chOff x="0" y="0"/>
            <a:chExt cx="660400" cy="7484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748441"/>
            </a:xfrm>
            <a:custGeom>
              <a:avLst/>
              <a:gdLst/>
              <a:ahLst/>
              <a:cxnLst/>
              <a:rect l="l" t="t" r="r" b="b"/>
              <a:pathLst>
                <a:path w="660400" h="74844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072"/>
                  </a:cubicBezTo>
                  <a:lnTo>
                    <a:pt x="660400" y="748441"/>
                  </a:lnTo>
                  <a:lnTo>
                    <a:pt x="0" y="748441"/>
                  </a:lnTo>
                  <a:lnTo>
                    <a:pt x="0" y="32738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98425"/>
              <a:ext cx="660400" cy="650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98239" y="2182186"/>
            <a:ext cx="7473522" cy="7753276"/>
          </a:xfrm>
          <a:custGeom>
            <a:avLst/>
            <a:gdLst/>
            <a:ahLst/>
            <a:cxnLst/>
            <a:rect l="l" t="t" r="r" b="b"/>
            <a:pathLst>
              <a:path w="7473522" h="7753276">
                <a:moveTo>
                  <a:pt x="0" y="0"/>
                </a:moveTo>
                <a:lnTo>
                  <a:pt x="7473522" y="0"/>
                </a:lnTo>
                <a:lnTo>
                  <a:pt x="7473522" y="7753276"/>
                </a:lnTo>
                <a:lnTo>
                  <a:pt x="0" y="775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2972"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-859244" y="8799510"/>
            <a:ext cx="20006488" cy="2891773"/>
            <a:chOff x="0" y="0"/>
            <a:chExt cx="26675317" cy="3855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238250" y="6069336"/>
            <a:ext cx="3810000" cy="762000"/>
            <a:chOff x="0" y="0"/>
            <a:chExt cx="716755" cy="1433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6755" cy="143351"/>
            </a:xfrm>
            <a:custGeom>
              <a:avLst/>
              <a:gdLst/>
              <a:ahLst/>
              <a:cxnLst/>
              <a:rect l="l" t="t" r="r" b="b"/>
              <a:pathLst>
                <a:path w="716755" h="143351">
                  <a:moveTo>
                    <a:pt x="71675" y="0"/>
                  </a:moveTo>
                  <a:lnTo>
                    <a:pt x="645079" y="0"/>
                  </a:lnTo>
                  <a:cubicBezTo>
                    <a:pt x="684665" y="0"/>
                    <a:pt x="716755" y="32090"/>
                    <a:pt x="716755" y="71675"/>
                  </a:cubicBezTo>
                  <a:lnTo>
                    <a:pt x="716755" y="71675"/>
                  </a:lnTo>
                  <a:cubicBezTo>
                    <a:pt x="716755" y="90685"/>
                    <a:pt x="709203" y="108916"/>
                    <a:pt x="695762" y="122358"/>
                  </a:cubicBezTo>
                  <a:cubicBezTo>
                    <a:pt x="682320" y="135799"/>
                    <a:pt x="664089" y="143351"/>
                    <a:pt x="645079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38ABD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16755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Presented By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33500" y="2210761"/>
            <a:ext cx="13417728" cy="355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8400" b="1" dirty="0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Flood </a:t>
            </a:r>
            <a:r>
              <a:rPr lang="en-US" sz="8400" b="1" u="none" strike="noStrike" dirty="0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Prediction using Machine Learning Techniques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8853" y="6964686"/>
            <a:ext cx="7202544" cy="762000"/>
            <a:chOff x="0" y="0"/>
            <a:chExt cx="1354976" cy="1433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54976" cy="143351"/>
            </a:xfrm>
            <a:custGeom>
              <a:avLst/>
              <a:gdLst/>
              <a:ahLst/>
              <a:cxnLst/>
              <a:rect l="l" t="t" r="r" b="b"/>
              <a:pathLst>
                <a:path w="1354976" h="143351">
                  <a:moveTo>
                    <a:pt x="53744" y="0"/>
                  </a:moveTo>
                  <a:lnTo>
                    <a:pt x="1301232" y="0"/>
                  </a:lnTo>
                  <a:cubicBezTo>
                    <a:pt x="1315485" y="0"/>
                    <a:pt x="1329155" y="5662"/>
                    <a:pt x="1339235" y="15741"/>
                  </a:cubicBezTo>
                  <a:cubicBezTo>
                    <a:pt x="1349314" y="25820"/>
                    <a:pt x="1354976" y="39490"/>
                    <a:pt x="1354976" y="53744"/>
                  </a:cubicBezTo>
                  <a:lnTo>
                    <a:pt x="1354976" y="89607"/>
                  </a:lnTo>
                  <a:cubicBezTo>
                    <a:pt x="1354976" y="103861"/>
                    <a:pt x="1349314" y="117531"/>
                    <a:pt x="1339235" y="127610"/>
                  </a:cubicBezTo>
                  <a:cubicBezTo>
                    <a:pt x="1329155" y="137689"/>
                    <a:pt x="1315485" y="143351"/>
                    <a:pt x="1301232" y="143351"/>
                  </a:cubicBezTo>
                  <a:lnTo>
                    <a:pt x="53744" y="143351"/>
                  </a:lnTo>
                  <a:cubicBezTo>
                    <a:pt x="39490" y="143351"/>
                    <a:pt x="25820" y="137689"/>
                    <a:pt x="15741" y="127610"/>
                  </a:cubicBezTo>
                  <a:cubicBezTo>
                    <a:pt x="5662" y="117531"/>
                    <a:pt x="0" y="103861"/>
                    <a:pt x="0" y="89607"/>
                  </a:cubicBezTo>
                  <a:lnTo>
                    <a:pt x="0" y="53744"/>
                  </a:lnTo>
                  <a:cubicBezTo>
                    <a:pt x="0" y="39490"/>
                    <a:pt x="5662" y="25820"/>
                    <a:pt x="15741" y="15741"/>
                  </a:cubicBezTo>
                  <a:cubicBezTo>
                    <a:pt x="25820" y="5662"/>
                    <a:pt x="39490" y="0"/>
                    <a:pt x="537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54976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Harinarayanan K P - MY.SC.I5MCA21019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7775" y="7837485"/>
            <a:ext cx="7202544" cy="762000"/>
            <a:chOff x="0" y="0"/>
            <a:chExt cx="1354976" cy="1433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54976" cy="143351"/>
            </a:xfrm>
            <a:custGeom>
              <a:avLst/>
              <a:gdLst/>
              <a:ahLst/>
              <a:cxnLst/>
              <a:rect l="l" t="t" r="r" b="b"/>
              <a:pathLst>
                <a:path w="1354976" h="143351">
                  <a:moveTo>
                    <a:pt x="53744" y="0"/>
                  </a:moveTo>
                  <a:lnTo>
                    <a:pt x="1301232" y="0"/>
                  </a:lnTo>
                  <a:cubicBezTo>
                    <a:pt x="1315485" y="0"/>
                    <a:pt x="1329155" y="5662"/>
                    <a:pt x="1339235" y="15741"/>
                  </a:cubicBezTo>
                  <a:cubicBezTo>
                    <a:pt x="1349314" y="25820"/>
                    <a:pt x="1354976" y="39490"/>
                    <a:pt x="1354976" y="53744"/>
                  </a:cubicBezTo>
                  <a:lnTo>
                    <a:pt x="1354976" y="89607"/>
                  </a:lnTo>
                  <a:cubicBezTo>
                    <a:pt x="1354976" y="103861"/>
                    <a:pt x="1349314" y="117531"/>
                    <a:pt x="1339235" y="127610"/>
                  </a:cubicBezTo>
                  <a:cubicBezTo>
                    <a:pt x="1329155" y="137689"/>
                    <a:pt x="1315485" y="143351"/>
                    <a:pt x="1301232" y="143351"/>
                  </a:cubicBezTo>
                  <a:lnTo>
                    <a:pt x="53744" y="143351"/>
                  </a:lnTo>
                  <a:cubicBezTo>
                    <a:pt x="39490" y="143351"/>
                    <a:pt x="25820" y="137689"/>
                    <a:pt x="15741" y="127610"/>
                  </a:cubicBezTo>
                  <a:cubicBezTo>
                    <a:pt x="5662" y="117531"/>
                    <a:pt x="0" y="103861"/>
                    <a:pt x="0" y="89607"/>
                  </a:cubicBezTo>
                  <a:lnTo>
                    <a:pt x="0" y="53744"/>
                  </a:lnTo>
                  <a:cubicBezTo>
                    <a:pt x="0" y="39490"/>
                    <a:pt x="5662" y="25820"/>
                    <a:pt x="15741" y="15741"/>
                  </a:cubicBezTo>
                  <a:cubicBezTo>
                    <a:pt x="25820" y="5662"/>
                    <a:pt x="39490" y="0"/>
                    <a:pt x="537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54976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Saran Shabu - MY.SC.I5MCA21039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9569" y="21549"/>
            <a:ext cx="6658431" cy="10265451"/>
          </a:xfrm>
          <a:custGeom>
            <a:avLst/>
            <a:gdLst/>
            <a:ahLst/>
            <a:cxnLst/>
            <a:rect l="l" t="t" r="r" b="b"/>
            <a:pathLst>
              <a:path w="6658431" h="10265451">
                <a:moveTo>
                  <a:pt x="0" y="0"/>
                </a:moveTo>
                <a:lnTo>
                  <a:pt x="6658431" y="0"/>
                </a:lnTo>
                <a:lnTo>
                  <a:pt x="6658431" y="10265451"/>
                </a:lnTo>
                <a:lnTo>
                  <a:pt x="0" y="1026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4779" t="-207" r="-1971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0075" y="1438275"/>
            <a:ext cx="9525000" cy="3393440"/>
            <a:chOff x="0" y="0"/>
            <a:chExt cx="12700000" cy="4524587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2700000" cy="4524587"/>
              <a:chOff x="0" y="0"/>
              <a:chExt cx="2508642" cy="89374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508642" cy="893746"/>
              </a:xfrm>
              <a:custGeom>
                <a:avLst/>
                <a:gdLst/>
                <a:ahLst/>
                <a:cxnLst/>
                <a:rect l="l" t="t" r="r" b="b"/>
                <a:pathLst>
                  <a:path w="2508642" h="893746">
                    <a:moveTo>
                      <a:pt x="41453" y="0"/>
                    </a:moveTo>
                    <a:lnTo>
                      <a:pt x="2467189" y="0"/>
                    </a:lnTo>
                    <a:cubicBezTo>
                      <a:pt x="2490083" y="0"/>
                      <a:pt x="2508642" y="18559"/>
                      <a:pt x="2508642" y="41453"/>
                    </a:cubicBezTo>
                    <a:lnTo>
                      <a:pt x="2508642" y="852293"/>
                    </a:lnTo>
                    <a:cubicBezTo>
                      <a:pt x="2508642" y="863287"/>
                      <a:pt x="2504275" y="873830"/>
                      <a:pt x="2496501" y="881604"/>
                    </a:cubicBezTo>
                    <a:cubicBezTo>
                      <a:pt x="2488727" y="889378"/>
                      <a:pt x="2478183" y="893746"/>
                      <a:pt x="2467189" y="893746"/>
                    </a:cubicBezTo>
                    <a:lnTo>
                      <a:pt x="41453" y="893746"/>
                    </a:lnTo>
                    <a:cubicBezTo>
                      <a:pt x="18559" y="893746"/>
                      <a:pt x="0" y="875187"/>
                      <a:pt x="0" y="852293"/>
                    </a:cubicBezTo>
                    <a:lnTo>
                      <a:pt x="0" y="41453"/>
                    </a:lnTo>
                    <a:cubicBezTo>
                      <a:pt x="0" y="18559"/>
                      <a:pt x="18559" y="0"/>
                      <a:pt x="414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2508642" cy="92232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62000" y="691938"/>
              <a:ext cx="11176000" cy="3112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20"/>
                </a:lnSpc>
              </a:pPr>
              <a:r>
                <a:rPr lang="en-US" sz="24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Floods are among the most devastating natural disasters, causing loss of life, property damage, and long-term socio-economic impact. As climate change intensifies, the frequency and severity of floods are expected to increase, demanding robust early-warning systems.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5800" y="381000"/>
            <a:ext cx="1123221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5192374"/>
            <a:ext cx="9163050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The Role of Machine Learning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0075" y="7300443"/>
            <a:ext cx="9266386" cy="2694241"/>
            <a:chOff x="0" y="0"/>
            <a:chExt cx="12355181" cy="359232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2355181" cy="3592321"/>
              <a:chOff x="0" y="0"/>
              <a:chExt cx="2823673" cy="82099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823673" cy="820995"/>
              </a:xfrm>
              <a:custGeom>
                <a:avLst/>
                <a:gdLst/>
                <a:ahLst/>
                <a:cxnLst/>
                <a:rect l="l" t="t" r="r" b="b"/>
                <a:pathLst>
                  <a:path w="2823673" h="820995">
                    <a:moveTo>
                      <a:pt x="36828" y="0"/>
                    </a:moveTo>
                    <a:lnTo>
                      <a:pt x="2786845" y="0"/>
                    </a:lnTo>
                    <a:cubicBezTo>
                      <a:pt x="2796612" y="0"/>
                      <a:pt x="2805980" y="3880"/>
                      <a:pt x="2812886" y="10787"/>
                    </a:cubicBezTo>
                    <a:cubicBezTo>
                      <a:pt x="2819793" y="17693"/>
                      <a:pt x="2823673" y="27061"/>
                      <a:pt x="2823673" y="36828"/>
                    </a:cubicBezTo>
                    <a:lnTo>
                      <a:pt x="2823673" y="784167"/>
                    </a:lnTo>
                    <a:cubicBezTo>
                      <a:pt x="2823673" y="793934"/>
                      <a:pt x="2819793" y="803302"/>
                      <a:pt x="2812886" y="810208"/>
                    </a:cubicBezTo>
                    <a:cubicBezTo>
                      <a:pt x="2805980" y="817115"/>
                      <a:pt x="2796612" y="820995"/>
                      <a:pt x="2786845" y="820995"/>
                    </a:cubicBezTo>
                    <a:lnTo>
                      <a:pt x="36828" y="820995"/>
                    </a:lnTo>
                    <a:cubicBezTo>
                      <a:pt x="27061" y="820995"/>
                      <a:pt x="17693" y="817115"/>
                      <a:pt x="10787" y="810208"/>
                    </a:cubicBezTo>
                    <a:cubicBezTo>
                      <a:pt x="3880" y="803302"/>
                      <a:pt x="0" y="793934"/>
                      <a:pt x="0" y="784167"/>
                    </a:cubicBezTo>
                    <a:lnTo>
                      <a:pt x="0" y="36828"/>
                    </a:lnTo>
                    <a:cubicBezTo>
                      <a:pt x="0" y="27061"/>
                      <a:pt x="3880" y="17693"/>
                      <a:pt x="10787" y="10787"/>
                    </a:cubicBezTo>
                    <a:cubicBezTo>
                      <a:pt x="17693" y="3880"/>
                      <a:pt x="27061" y="0"/>
                      <a:pt x="368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2823673" cy="84957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425598" y="444534"/>
              <a:ext cx="9503985" cy="2684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96"/>
                </a:lnSpc>
              </a:pPr>
              <a:r>
                <a:rPr lang="en-US" sz="2074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Machine learning (ML) has emerged as a powerful tool in flood prediction. By analyzing historical meteorological and geographical data, ML models can uncover complex patterns and provide accurate, data-driven forecasts that aid disaster preparedness and response.</a:t>
              </a:r>
            </a:p>
          </p:txBody>
        </p:sp>
      </p:grpSp>
      <p:sp>
        <p:nvSpPr>
          <p:cNvPr id="15" name="Freeform 9">
            <a:extLst>
              <a:ext uri="{FF2B5EF4-FFF2-40B4-BE49-F238E27FC236}">
                <a16:creationId xmlns:a16="http://schemas.microsoft.com/office/drawing/2014/main" id="{6D24A039-5E26-C9A5-F061-21F71A348768}"/>
              </a:ext>
            </a:extLst>
          </p:cNvPr>
          <p:cNvSpPr/>
          <p:nvPr/>
        </p:nvSpPr>
        <p:spPr>
          <a:xfrm>
            <a:off x="9334470" y="10619359"/>
            <a:ext cx="8924955" cy="9296828"/>
          </a:xfrm>
          <a:custGeom>
            <a:avLst/>
            <a:gdLst/>
            <a:ahLst/>
            <a:cxnLst/>
            <a:rect l="l" t="t" r="r" b="b"/>
            <a:pathLst>
              <a:path w="8924955" h="9296828">
                <a:moveTo>
                  <a:pt x="0" y="0"/>
                </a:moveTo>
                <a:lnTo>
                  <a:pt x="8924955" y="0"/>
                </a:lnTo>
                <a:lnTo>
                  <a:pt x="8924955" y="9296828"/>
                </a:lnTo>
                <a:lnTo>
                  <a:pt x="0" y="929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AD4821B5-F671-5C8B-5C68-85EC7F0FB1A9}"/>
              </a:ext>
            </a:extLst>
          </p:cNvPr>
          <p:cNvGrpSpPr/>
          <p:nvPr/>
        </p:nvGrpSpPr>
        <p:grpSpPr>
          <a:xfrm>
            <a:off x="-9124722" y="952500"/>
            <a:ext cx="8724900" cy="2410824"/>
            <a:chOff x="0" y="0"/>
            <a:chExt cx="11633200" cy="3214432"/>
          </a:xfrm>
        </p:grpSpPr>
        <p:grpSp>
          <p:nvGrpSpPr>
            <p:cNvPr id="24" name="Group 3">
              <a:extLst>
                <a:ext uri="{FF2B5EF4-FFF2-40B4-BE49-F238E27FC236}">
                  <a16:creationId xmlns:a16="http://schemas.microsoft.com/office/drawing/2014/main" id="{A5B7BBF8-DA6E-871F-13B4-DC23564DD4DD}"/>
                </a:ext>
              </a:extLst>
            </p:cNvPr>
            <p:cNvGrpSpPr/>
            <p:nvPr/>
          </p:nvGrpSpPr>
          <p:grpSpPr>
            <a:xfrm>
              <a:off x="203200" y="108048"/>
              <a:ext cx="11430000" cy="3106384"/>
              <a:chOff x="0" y="0"/>
              <a:chExt cx="2257778" cy="613607"/>
            </a:xfrm>
          </p:grpSpPr>
          <p:sp>
            <p:nvSpPr>
              <p:cNvPr id="28" name="Freeform 4">
                <a:extLst>
                  <a:ext uri="{FF2B5EF4-FFF2-40B4-BE49-F238E27FC236}">
                    <a16:creationId xmlns:a16="http://schemas.microsoft.com/office/drawing/2014/main" id="{94742FA6-4986-9C96-4443-B9AE43116BFA}"/>
                  </a:ext>
                </a:extLst>
              </p:cNvPr>
              <p:cNvSpPr/>
              <p:nvPr/>
            </p:nvSpPr>
            <p:spPr>
              <a:xfrm>
                <a:off x="0" y="0"/>
                <a:ext cx="2257778" cy="613607"/>
              </a:xfrm>
              <a:custGeom>
                <a:avLst/>
                <a:gdLst/>
                <a:ahLst/>
                <a:cxnLst/>
                <a:rect l="l" t="t" r="r" b="b"/>
                <a:pathLst>
                  <a:path w="2257778" h="613607">
                    <a:moveTo>
                      <a:pt x="46059" y="0"/>
                    </a:moveTo>
                    <a:lnTo>
                      <a:pt x="2211719" y="0"/>
                    </a:lnTo>
                    <a:cubicBezTo>
                      <a:pt x="2223935" y="0"/>
                      <a:pt x="2235650" y="4853"/>
                      <a:pt x="2244287" y="13490"/>
                    </a:cubicBezTo>
                    <a:cubicBezTo>
                      <a:pt x="2252925" y="22128"/>
                      <a:pt x="2257778" y="33843"/>
                      <a:pt x="2257778" y="46059"/>
                    </a:cubicBezTo>
                    <a:lnTo>
                      <a:pt x="2257778" y="567548"/>
                    </a:lnTo>
                    <a:cubicBezTo>
                      <a:pt x="2257778" y="592986"/>
                      <a:pt x="2237156" y="613607"/>
                      <a:pt x="2211719" y="613607"/>
                    </a:cubicBezTo>
                    <a:lnTo>
                      <a:pt x="46059" y="613607"/>
                    </a:lnTo>
                    <a:cubicBezTo>
                      <a:pt x="20621" y="613607"/>
                      <a:pt x="0" y="592986"/>
                      <a:pt x="0" y="567548"/>
                    </a:cubicBezTo>
                    <a:lnTo>
                      <a:pt x="0" y="46059"/>
                    </a:lnTo>
                    <a:cubicBezTo>
                      <a:pt x="0" y="20621"/>
                      <a:pt x="20621" y="0"/>
                      <a:pt x="46059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23F64BB2-8BB2-03D6-856B-E8FDABB86C1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57778" cy="65170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5" name="Group 6">
              <a:extLst>
                <a:ext uri="{FF2B5EF4-FFF2-40B4-BE49-F238E27FC236}">
                  <a16:creationId xmlns:a16="http://schemas.microsoft.com/office/drawing/2014/main" id="{6D8A1574-6829-293C-07D3-ACC5C72597E9}"/>
                </a:ext>
              </a:extLst>
            </p:cNvPr>
            <p:cNvGrpSpPr/>
            <p:nvPr/>
          </p:nvGrpSpPr>
          <p:grpSpPr>
            <a:xfrm>
              <a:off x="0" y="0"/>
              <a:ext cx="11430000" cy="3106384"/>
              <a:chOff x="0" y="0"/>
              <a:chExt cx="2257778" cy="613607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D05234AF-CB6D-EF9C-E2D0-372CB4175819}"/>
                  </a:ext>
                </a:extLst>
              </p:cNvPr>
              <p:cNvSpPr/>
              <p:nvPr/>
            </p:nvSpPr>
            <p:spPr>
              <a:xfrm>
                <a:off x="0" y="0"/>
                <a:ext cx="2257778" cy="613607"/>
              </a:xfrm>
              <a:custGeom>
                <a:avLst/>
                <a:gdLst/>
                <a:ahLst/>
                <a:cxnLst/>
                <a:rect l="l" t="t" r="r" b="b"/>
                <a:pathLst>
                  <a:path w="2257778" h="613607">
                    <a:moveTo>
                      <a:pt x="46059" y="0"/>
                    </a:moveTo>
                    <a:lnTo>
                      <a:pt x="2211719" y="0"/>
                    </a:lnTo>
                    <a:cubicBezTo>
                      <a:pt x="2223935" y="0"/>
                      <a:pt x="2235650" y="4853"/>
                      <a:pt x="2244287" y="13490"/>
                    </a:cubicBezTo>
                    <a:cubicBezTo>
                      <a:pt x="2252925" y="22128"/>
                      <a:pt x="2257778" y="33843"/>
                      <a:pt x="2257778" y="46059"/>
                    </a:cubicBezTo>
                    <a:lnTo>
                      <a:pt x="2257778" y="567548"/>
                    </a:lnTo>
                    <a:cubicBezTo>
                      <a:pt x="2257778" y="592986"/>
                      <a:pt x="2237156" y="613607"/>
                      <a:pt x="2211719" y="613607"/>
                    </a:cubicBezTo>
                    <a:lnTo>
                      <a:pt x="46059" y="613607"/>
                    </a:lnTo>
                    <a:cubicBezTo>
                      <a:pt x="20621" y="613607"/>
                      <a:pt x="0" y="592986"/>
                      <a:pt x="0" y="567548"/>
                    </a:cubicBezTo>
                    <a:lnTo>
                      <a:pt x="0" y="46059"/>
                    </a:lnTo>
                    <a:cubicBezTo>
                      <a:pt x="0" y="20621"/>
                      <a:pt x="20621" y="0"/>
                      <a:pt x="46059" y="0"/>
                    </a:cubicBezTo>
                    <a:close/>
                  </a:path>
                </a:pathLst>
              </a:custGeom>
              <a:solidFill>
                <a:srgbClr val="FFCF8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7" name="TextBox 8">
                <a:extLst>
                  <a:ext uri="{FF2B5EF4-FFF2-40B4-BE49-F238E27FC236}">
                    <a16:creationId xmlns:a16="http://schemas.microsoft.com/office/drawing/2014/main" id="{484F9BE8-2D4A-ABCF-BA24-4F90AD698CA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57778" cy="64218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0" name="TextBox 16">
            <a:extLst>
              <a:ext uri="{FF2B5EF4-FFF2-40B4-BE49-F238E27FC236}">
                <a16:creationId xmlns:a16="http://schemas.microsoft.com/office/drawing/2014/main" id="{86AB93FA-3782-ED58-BF40-EFB966C9D322}"/>
              </a:ext>
            </a:extLst>
          </p:cNvPr>
          <p:cNvSpPr txBox="1"/>
          <p:nvPr/>
        </p:nvSpPr>
        <p:spPr>
          <a:xfrm>
            <a:off x="-6838722" y="1375781"/>
            <a:ext cx="5715000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Purpose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5355" y="904875"/>
            <a:ext cx="8724900" cy="2410824"/>
            <a:chOff x="0" y="0"/>
            <a:chExt cx="11633200" cy="3214432"/>
          </a:xfrm>
        </p:grpSpPr>
        <p:grpSp>
          <p:nvGrpSpPr>
            <p:cNvPr id="3" name="Group 3"/>
            <p:cNvGrpSpPr/>
            <p:nvPr/>
          </p:nvGrpSpPr>
          <p:grpSpPr>
            <a:xfrm>
              <a:off x="203200" y="108048"/>
              <a:ext cx="11430000" cy="3106384"/>
              <a:chOff x="0" y="0"/>
              <a:chExt cx="2257778" cy="61360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257778" cy="613607"/>
              </a:xfrm>
              <a:custGeom>
                <a:avLst/>
                <a:gdLst/>
                <a:ahLst/>
                <a:cxnLst/>
                <a:rect l="l" t="t" r="r" b="b"/>
                <a:pathLst>
                  <a:path w="2257778" h="613607">
                    <a:moveTo>
                      <a:pt x="46059" y="0"/>
                    </a:moveTo>
                    <a:lnTo>
                      <a:pt x="2211719" y="0"/>
                    </a:lnTo>
                    <a:cubicBezTo>
                      <a:pt x="2223935" y="0"/>
                      <a:pt x="2235650" y="4853"/>
                      <a:pt x="2244287" y="13490"/>
                    </a:cubicBezTo>
                    <a:cubicBezTo>
                      <a:pt x="2252925" y="22128"/>
                      <a:pt x="2257778" y="33843"/>
                      <a:pt x="2257778" y="46059"/>
                    </a:cubicBezTo>
                    <a:lnTo>
                      <a:pt x="2257778" y="567548"/>
                    </a:lnTo>
                    <a:cubicBezTo>
                      <a:pt x="2257778" y="592986"/>
                      <a:pt x="2237156" y="613607"/>
                      <a:pt x="2211719" y="613607"/>
                    </a:cubicBezTo>
                    <a:lnTo>
                      <a:pt x="46059" y="613607"/>
                    </a:lnTo>
                    <a:cubicBezTo>
                      <a:pt x="20621" y="613607"/>
                      <a:pt x="0" y="592986"/>
                      <a:pt x="0" y="567548"/>
                    </a:cubicBezTo>
                    <a:lnTo>
                      <a:pt x="0" y="46059"/>
                    </a:lnTo>
                    <a:cubicBezTo>
                      <a:pt x="0" y="20621"/>
                      <a:pt x="20621" y="0"/>
                      <a:pt x="46059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257778" cy="65170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1430000" cy="3106384"/>
              <a:chOff x="0" y="0"/>
              <a:chExt cx="2257778" cy="61360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257778" cy="613607"/>
              </a:xfrm>
              <a:custGeom>
                <a:avLst/>
                <a:gdLst/>
                <a:ahLst/>
                <a:cxnLst/>
                <a:rect l="l" t="t" r="r" b="b"/>
                <a:pathLst>
                  <a:path w="2257778" h="613607">
                    <a:moveTo>
                      <a:pt x="46059" y="0"/>
                    </a:moveTo>
                    <a:lnTo>
                      <a:pt x="2211719" y="0"/>
                    </a:lnTo>
                    <a:cubicBezTo>
                      <a:pt x="2223935" y="0"/>
                      <a:pt x="2235650" y="4853"/>
                      <a:pt x="2244287" y="13490"/>
                    </a:cubicBezTo>
                    <a:cubicBezTo>
                      <a:pt x="2252925" y="22128"/>
                      <a:pt x="2257778" y="33843"/>
                      <a:pt x="2257778" y="46059"/>
                    </a:cubicBezTo>
                    <a:lnTo>
                      <a:pt x="2257778" y="567548"/>
                    </a:lnTo>
                    <a:cubicBezTo>
                      <a:pt x="2257778" y="592986"/>
                      <a:pt x="2237156" y="613607"/>
                      <a:pt x="2211719" y="613607"/>
                    </a:cubicBezTo>
                    <a:lnTo>
                      <a:pt x="46059" y="613607"/>
                    </a:lnTo>
                    <a:cubicBezTo>
                      <a:pt x="20621" y="613607"/>
                      <a:pt x="0" y="592986"/>
                      <a:pt x="0" y="567548"/>
                    </a:cubicBezTo>
                    <a:lnTo>
                      <a:pt x="0" y="46059"/>
                    </a:lnTo>
                    <a:cubicBezTo>
                      <a:pt x="0" y="20621"/>
                      <a:pt x="20621" y="0"/>
                      <a:pt x="46059" y="0"/>
                    </a:cubicBezTo>
                    <a:close/>
                  </a:path>
                </a:pathLst>
              </a:custGeom>
              <a:solidFill>
                <a:srgbClr val="FFCF8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257778" cy="64218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8820150" y="962025"/>
            <a:ext cx="8924955" cy="9296828"/>
          </a:xfrm>
          <a:custGeom>
            <a:avLst/>
            <a:gdLst/>
            <a:ahLst/>
            <a:cxnLst/>
            <a:rect l="l" t="t" r="r" b="b"/>
            <a:pathLst>
              <a:path w="8924955" h="9296828">
                <a:moveTo>
                  <a:pt x="0" y="0"/>
                </a:moveTo>
                <a:lnTo>
                  <a:pt x="8924955" y="0"/>
                </a:lnTo>
                <a:lnTo>
                  <a:pt x="8924955" y="9296828"/>
                </a:lnTo>
                <a:lnTo>
                  <a:pt x="0" y="92968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12452" y="3819324"/>
            <a:ext cx="10133836" cy="4727653"/>
            <a:chOff x="0" y="0"/>
            <a:chExt cx="2668994" cy="12451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68994" cy="1245143"/>
            </a:xfrm>
            <a:custGeom>
              <a:avLst/>
              <a:gdLst/>
              <a:ahLst/>
              <a:cxnLst/>
              <a:rect l="l" t="t" r="r" b="b"/>
              <a:pathLst>
                <a:path w="2668994" h="1245143">
                  <a:moveTo>
                    <a:pt x="38962" y="0"/>
                  </a:moveTo>
                  <a:lnTo>
                    <a:pt x="2630032" y="0"/>
                  </a:lnTo>
                  <a:cubicBezTo>
                    <a:pt x="2651550" y="0"/>
                    <a:pt x="2668994" y="17444"/>
                    <a:pt x="2668994" y="38962"/>
                  </a:cubicBezTo>
                  <a:lnTo>
                    <a:pt x="2668994" y="1206181"/>
                  </a:lnTo>
                  <a:cubicBezTo>
                    <a:pt x="2668994" y="1216514"/>
                    <a:pt x="2664889" y="1226425"/>
                    <a:pt x="2657582" y="1233731"/>
                  </a:cubicBezTo>
                  <a:cubicBezTo>
                    <a:pt x="2650275" y="1241038"/>
                    <a:pt x="2640365" y="1245143"/>
                    <a:pt x="2630032" y="1245143"/>
                  </a:cubicBezTo>
                  <a:lnTo>
                    <a:pt x="38962" y="1245143"/>
                  </a:lnTo>
                  <a:cubicBezTo>
                    <a:pt x="17444" y="1245143"/>
                    <a:pt x="0" y="1227699"/>
                    <a:pt x="0" y="1206181"/>
                  </a:cubicBezTo>
                  <a:lnTo>
                    <a:pt x="0" y="38962"/>
                  </a:lnTo>
                  <a:cubicBezTo>
                    <a:pt x="0" y="17444"/>
                    <a:pt x="17444" y="0"/>
                    <a:pt x="389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68994" cy="1283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9488" y="4175069"/>
            <a:ext cx="9281845" cy="4470506"/>
            <a:chOff x="0" y="0"/>
            <a:chExt cx="1746144" cy="8410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6144" cy="841012"/>
            </a:xfrm>
            <a:custGeom>
              <a:avLst/>
              <a:gdLst/>
              <a:ahLst/>
              <a:cxnLst/>
              <a:rect l="l" t="t" r="r" b="b"/>
              <a:pathLst>
                <a:path w="1746144" h="841012">
                  <a:moveTo>
                    <a:pt x="0" y="0"/>
                  </a:moveTo>
                  <a:lnTo>
                    <a:pt x="1746144" y="0"/>
                  </a:lnTo>
                  <a:lnTo>
                    <a:pt x="1746144" y="841012"/>
                  </a:lnTo>
                  <a:lnTo>
                    <a:pt x="0" y="841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46144" cy="879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This study presents and compares two machine learning models for flood prediction:</a:t>
              </a:r>
            </a:p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Random Forest Regressor: A robust ensemble-based regression technique suitable for continuous flood probability prediction .</a:t>
              </a:r>
            </a:p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Support Vector Machine (SVM) Classifier: A powerful classification model effective in categorizing regions into discrete flood risk levels (High, Medium, Low).</a:t>
              </a:r>
            </a:p>
            <a:p>
              <a:pPr algn="just">
                <a:lnSpc>
                  <a:spcPts val="3379"/>
                </a:lnSpc>
              </a:pPr>
              <a:endParaRPr lang="en-US" sz="25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90645" y="1328156"/>
            <a:ext cx="5715000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Purpose</a:t>
            </a:r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4F0C3BB3-E172-9F6B-55F7-2EDE00BE9B00}"/>
              </a:ext>
            </a:extLst>
          </p:cNvPr>
          <p:cNvSpPr/>
          <p:nvPr/>
        </p:nvSpPr>
        <p:spPr>
          <a:xfrm>
            <a:off x="18745200" y="10774"/>
            <a:ext cx="6658431" cy="10265451"/>
          </a:xfrm>
          <a:custGeom>
            <a:avLst/>
            <a:gdLst/>
            <a:ahLst/>
            <a:cxnLst/>
            <a:rect l="l" t="t" r="r" b="b"/>
            <a:pathLst>
              <a:path w="6658431" h="10265451">
                <a:moveTo>
                  <a:pt x="0" y="0"/>
                </a:moveTo>
                <a:lnTo>
                  <a:pt x="6658431" y="0"/>
                </a:lnTo>
                <a:lnTo>
                  <a:pt x="6658431" y="10265451"/>
                </a:lnTo>
                <a:lnTo>
                  <a:pt x="0" y="10265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4779" t="-207" r="-19713"/>
            </a:stretch>
          </a:blipFill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33CC85-26DE-FAAC-F893-BB2EF0496A4B}"/>
              </a:ext>
            </a:extLst>
          </p:cNvPr>
          <p:cNvGrpSpPr/>
          <p:nvPr/>
        </p:nvGrpSpPr>
        <p:grpSpPr>
          <a:xfrm>
            <a:off x="-695355" y="10934700"/>
            <a:ext cx="20006488" cy="2891773"/>
            <a:chOff x="0" y="0"/>
            <a:chExt cx="26675317" cy="3855697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DD9B592-FA52-1E39-EDDB-F046719017D3}"/>
                </a:ext>
              </a:extLst>
            </p:cNvPr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8648A42-9887-D9BA-968B-1F1E5B1A9317}"/>
                </a:ext>
              </a:extLst>
            </p:cNvPr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E78C720-2E11-3850-6C6A-E2EFCA611B6E}"/>
                </a:ext>
              </a:extLst>
            </p:cNvPr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27463-6D72-111E-8E5B-023FB904463B}"/>
                </a:ext>
              </a:extLst>
            </p:cNvPr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FBC7D47-D039-8194-C8F0-2288DEB8D2FF}"/>
                  </a:ext>
                </a:extLst>
              </p:cNvPr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4792C3-52DF-730D-ADCE-8798B0CCF07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4427" y="326264"/>
            <a:ext cx="11036018" cy="4476417"/>
            <a:chOff x="0" y="0"/>
            <a:chExt cx="14714691" cy="5968556"/>
          </a:xfrm>
        </p:grpSpPr>
        <p:grpSp>
          <p:nvGrpSpPr>
            <p:cNvPr id="3" name="Group 3"/>
            <p:cNvGrpSpPr/>
            <p:nvPr/>
          </p:nvGrpSpPr>
          <p:grpSpPr>
            <a:xfrm>
              <a:off x="222950" y="200624"/>
              <a:ext cx="14491741" cy="5767932"/>
              <a:chOff x="0" y="0"/>
              <a:chExt cx="2899325" cy="11539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899325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2899325" h="1153975">
                    <a:moveTo>
                      <a:pt x="35867" y="0"/>
                    </a:moveTo>
                    <a:lnTo>
                      <a:pt x="2863458" y="0"/>
                    </a:lnTo>
                    <a:cubicBezTo>
                      <a:pt x="2872970" y="0"/>
                      <a:pt x="2882093" y="3779"/>
                      <a:pt x="2888820" y="10505"/>
                    </a:cubicBezTo>
                    <a:cubicBezTo>
                      <a:pt x="2895546" y="17232"/>
                      <a:pt x="2899325" y="26355"/>
                      <a:pt x="2899325" y="35867"/>
                    </a:cubicBezTo>
                    <a:lnTo>
                      <a:pt x="2899325" y="1118108"/>
                    </a:lnTo>
                    <a:cubicBezTo>
                      <a:pt x="2899325" y="1127621"/>
                      <a:pt x="2895546" y="1136744"/>
                      <a:pt x="2888820" y="1143470"/>
                    </a:cubicBezTo>
                    <a:cubicBezTo>
                      <a:pt x="2882093" y="1150196"/>
                      <a:pt x="2872970" y="1153975"/>
                      <a:pt x="2863458" y="1153975"/>
                    </a:cubicBezTo>
                    <a:lnTo>
                      <a:pt x="35867" y="1153975"/>
                    </a:lnTo>
                    <a:cubicBezTo>
                      <a:pt x="26355" y="1153975"/>
                      <a:pt x="17232" y="1150196"/>
                      <a:pt x="10505" y="1143470"/>
                    </a:cubicBezTo>
                    <a:cubicBezTo>
                      <a:pt x="3779" y="1136744"/>
                      <a:pt x="0" y="1127621"/>
                      <a:pt x="0" y="1118108"/>
                    </a:cubicBezTo>
                    <a:lnTo>
                      <a:pt x="0" y="35867"/>
                    </a:lnTo>
                    <a:cubicBezTo>
                      <a:pt x="0" y="26355"/>
                      <a:pt x="3779" y="17232"/>
                      <a:pt x="10505" y="10505"/>
                    </a:cubicBezTo>
                    <a:cubicBezTo>
                      <a:pt x="17232" y="3779"/>
                      <a:pt x="26355" y="0"/>
                      <a:pt x="35867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899325" cy="1192075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4491741" cy="5767932"/>
              <a:chOff x="0" y="0"/>
              <a:chExt cx="2899325" cy="11539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99325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2899325" h="1153975">
                    <a:moveTo>
                      <a:pt x="35867" y="0"/>
                    </a:moveTo>
                    <a:lnTo>
                      <a:pt x="2863458" y="0"/>
                    </a:lnTo>
                    <a:cubicBezTo>
                      <a:pt x="2872970" y="0"/>
                      <a:pt x="2882093" y="3779"/>
                      <a:pt x="2888820" y="10505"/>
                    </a:cubicBezTo>
                    <a:cubicBezTo>
                      <a:pt x="2895546" y="17232"/>
                      <a:pt x="2899325" y="26355"/>
                      <a:pt x="2899325" y="35867"/>
                    </a:cubicBezTo>
                    <a:lnTo>
                      <a:pt x="2899325" y="1118108"/>
                    </a:lnTo>
                    <a:cubicBezTo>
                      <a:pt x="2899325" y="1127621"/>
                      <a:pt x="2895546" y="1136744"/>
                      <a:pt x="2888820" y="1143470"/>
                    </a:cubicBezTo>
                    <a:cubicBezTo>
                      <a:pt x="2882093" y="1150196"/>
                      <a:pt x="2872970" y="1153975"/>
                      <a:pt x="2863458" y="1153975"/>
                    </a:cubicBezTo>
                    <a:lnTo>
                      <a:pt x="35867" y="1153975"/>
                    </a:lnTo>
                    <a:cubicBezTo>
                      <a:pt x="26355" y="1153975"/>
                      <a:pt x="17232" y="1150196"/>
                      <a:pt x="10505" y="1143470"/>
                    </a:cubicBezTo>
                    <a:cubicBezTo>
                      <a:pt x="3779" y="1136744"/>
                      <a:pt x="0" y="1127621"/>
                      <a:pt x="0" y="1118108"/>
                    </a:cubicBezTo>
                    <a:lnTo>
                      <a:pt x="0" y="35867"/>
                    </a:lnTo>
                    <a:cubicBezTo>
                      <a:pt x="0" y="26355"/>
                      <a:pt x="3779" y="17232"/>
                      <a:pt x="10505" y="10505"/>
                    </a:cubicBezTo>
                    <a:cubicBezTo>
                      <a:pt x="17232" y="3779"/>
                      <a:pt x="26355" y="0"/>
                      <a:pt x="35867" y="0"/>
                    </a:cubicBezTo>
                    <a:close/>
                  </a:path>
                </a:pathLst>
              </a:custGeom>
              <a:solidFill>
                <a:srgbClr val="EFB59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899325" cy="118255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344248" y="1961227"/>
              <a:ext cx="9754056" cy="1921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860"/>
                </a:lnSpc>
                <a:spcBef>
                  <a:spcPct val="0"/>
                </a:spcBef>
              </a:pPr>
              <a:r>
                <a:rPr lang="en-US" sz="9873" b="1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Objectives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97317" y="-2397466"/>
            <a:ext cx="9031736" cy="903173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2278787" y="1926633"/>
            <a:ext cx="6553969" cy="9011708"/>
          </a:xfrm>
          <a:custGeom>
            <a:avLst/>
            <a:gdLst/>
            <a:ahLst/>
            <a:cxnLst/>
            <a:rect l="l" t="t" r="r" b="b"/>
            <a:pathLst>
              <a:path w="6553969" h="9011708">
                <a:moveTo>
                  <a:pt x="6553969" y="0"/>
                </a:moveTo>
                <a:lnTo>
                  <a:pt x="0" y="0"/>
                </a:lnTo>
                <a:lnTo>
                  <a:pt x="0" y="9011708"/>
                </a:lnTo>
                <a:lnTo>
                  <a:pt x="6553969" y="9011708"/>
                </a:lnTo>
                <a:lnTo>
                  <a:pt x="65539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4" name="Group 14"/>
          <p:cNvGrpSpPr/>
          <p:nvPr/>
        </p:nvGrpSpPr>
        <p:grpSpPr>
          <a:xfrm>
            <a:off x="277402" y="5143500"/>
            <a:ext cx="11601907" cy="3054224"/>
            <a:chOff x="0" y="0"/>
            <a:chExt cx="2182605" cy="5745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2605" cy="574575"/>
            </a:xfrm>
            <a:custGeom>
              <a:avLst/>
              <a:gdLst/>
              <a:ahLst/>
              <a:cxnLst/>
              <a:rect l="l" t="t" r="r" b="b"/>
              <a:pathLst>
                <a:path w="2182605" h="574575">
                  <a:moveTo>
                    <a:pt x="33365" y="0"/>
                  </a:moveTo>
                  <a:lnTo>
                    <a:pt x="2149240" y="0"/>
                  </a:lnTo>
                  <a:cubicBezTo>
                    <a:pt x="2167667" y="0"/>
                    <a:pt x="2182605" y="14938"/>
                    <a:pt x="2182605" y="33365"/>
                  </a:cubicBezTo>
                  <a:lnTo>
                    <a:pt x="2182605" y="541210"/>
                  </a:lnTo>
                  <a:cubicBezTo>
                    <a:pt x="2182605" y="559637"/>
                    <a:pt x="2167667" y="574575"/>
                    <a:pt x="2149240" y="574575"/>
                  </a:cubicBezTo>
                  <a:lnTo>
                    <a:pt x="33365" y="574575"/>
                  </a:lnTo>
                  <a:cubicBezTo>
                    <a:pt x="14938" y="574575"/>
                    <a:pt x="0" y="559637"/>
                    <a:pt x="0" y="541210"/>
                  </a:cubicBezTo>
                  <a:lnTo>
                    <a:pt x="0" y="33365"/>
                  </a:lnTo>
                  <a:cubicBezTo>
                    <a:pt x="0" y="14938"/>
                    <a:pt x="14938" y="0"/>
                    <a:pt x="333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82605" cy="61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Develop machine learning-based flood prediction models.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Implement regression and classification techniques.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Evaluate performance metrics to assess model reliability.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Propose future directions to improve accuracy and efficiency.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Evaluate and Understand the correlation of the features.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859244" y="8799510"/>
            <a:ext cx="20006488" cy="2891773"/>
            <a:chOff x="0" y="0"/>
            <a:chExt cx="26675317" cy="38556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F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4427" y="326264"/>
            <a:ext cx="7869180" cy="3740911"/>
            <a:chOff x="0" y="0"/>
            <a:chExt cx="10492239" cy="4987881"/>
          </a:xfrm>
        </p:grpSpPr>
        <p:grpSp>
          <p:nvGrpSpPr>
            <p:cNvPr id="3" name="Group 3"/>
            <p:cNvGrpSpPr/>
            <p:nvPr/>
          </p:nvGrpSpPr>
          <p:grpSpPr>
            <a:xfrm>
              <a:off x="158973" y="167660"/>
              <a:ext cx="10333266" cy="4820221"/>
              <a:chOff x="0" y="0"/>
              <a:chExt cx="2473815" cy="11539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73815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2473815" h="1153975">
                    <a:moveTo>
                      <a:pt x="42036" y="0"/>
                    </a:moveTo>
                    <a:lnTo>
                      <a:pt x="2431779" y="0"/>
                    </a:lnTo>
                    <a:cubicBezTo>
                      <a:pt x="2442927" y="0"/>
                      <a:pt x="2453619" y="4429"/>
                      <a:pt x="2461503" y="12312"/>
                    </a:cubicBezTo>
                    <a:cubicBezTo>
                      <a:pt x="2469386" y="20196"/>
                      <a:pt x="2473815" y="30888"/>
                      <a:pt x="2473815" y="42036"/>
                    </a:cubicBezTo>
                    <a:lnTo>
                      <a:pt x="2473815" y="1111939"/>
                    </a:lnTo>
                    <a:cubicBezTo>
                      <a:pt x="2473815" y="1123088"/>
                      <a:pt x="2469386" y="1133780"/>
                      <a:pt x="2461503" y="1141663"/>
                    </a:cubicBezTo>
                    <a:cubicBezTo>
                      <a:pt x="2453619" y="1149546"/>
                      <a:pt x="2442927" y="1153975"/>
                      <a:pt x="2431779" y="1153975"/>
                    </a:cubicBezTo>
                    <a:lnTo>
                      <a:pt x="42036" y="1153975"/>
                    </a:lnTo>
                    <a:cubicBezTo>
                      <a:pt x="18820" y="1153975"/>
                      <a:pt x="0" y="1135155"/>
                      <a:pt x="0" y="1111939"/>
                    </a:cubicBezTo>
                    <a:lnTo>
                      <a:pt x="0" y="42036"/>
                    </a:lnTo>
                    <a:cubicBezTo>
                      <a:pt x="0" y="30888"/>
                      <a:pt x="4429" y="20196"/>
                      <a:pt x="12312" y="12312"/>
                    </a:cubicBezTo>
                    <a:cubicBezTo>
                      <a:pt x="20196" y="4429"/>
                      <a:pt x="30888" y="0"/>
                      <a:pt x="42036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473815" cy="1192075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0333266" cy="4820221"/>
              <a:chOff x="0" y="0"/>
              <a:chExt cx="2473815" cy="11539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73815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2473815" h="1153975">
                    <a:moveTo>
                      <a:pt x="42036" y="0"/>
                    </a:moveTo>
                    <a:lnTo>
                      <a:pt x="2431779" y="0"/>
                    </a:lnTo>
                    <a:cubicBezTo>
                      <a:pt x="2442927" y="0"/>
                      <a:pt x="2453619" y="4429"/>
                      <a:pt x="2461503" y="12312"/>
                    </a:cubicBezTo>
                    <a:cubicBezTo>
                      <a:pt x="2469386" y="20196"/>
                      <a:pt x="2473815" y="30888"/>
                      <a:pt x="2473815" y="42036"/>
                    </a:cubicBezTo>
                    <a:lnTo>
                      <a:pt x="2473815" y="1111939"/>
                    </a:lnTo>
                    <a:cubicBezTo>
                      <a:pt x="2473815" y="1123088"/>
                      <a:pt x="2469386" y="1133780"/>
                      <a:pt x="2461503" y="1141663"/>
                    </a:cubicBezTo>
                    <a:cubicBezTo>
                      <a:pt x="2453619" y="1149546"/>
                      <a:pt x="2442927" y="1153975"/>
                      <a:pt x="2431779" y="1153975"/>
                    </a:cubicBezTo>
                    <a:lnTo>
                      <a:pt x="42036" y="1153975"/>
                    </a:lnTo>
                    <a:cubicBezTo>
                      <a:pt x="18820" y="1153975"/>
                      <a:pt x="0" y="1135155"/>
                      <a:pt x="0" y="1111939"/>
                    </a:cubicBezTo>
                    <a:lnTo>
                      <a:pt x="0" y="42036"/>
                    </a:lnTo>
                    <a:cubicBezTo>
                      <a:pt x="0" y="30888"/>
                      <a:pt x="4429" y="20196"/>
                      <a:pt x="12312" y="12312"/>
                    </a:cubicBezTo>
                    <a:cubicBezTo>
                      <a:pt x="20196" y="4429"/>
                      <a:pt x="30888" y="0"/>
                      <a:pt x="42036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473815" cy="118255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384600" y="886556"/>
              <a:ext cx="6955083" cy="3123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76"/>
                </a:lnSpc>
                <a:spcBef>
                  <a:spcPct val="0"/>
                </a:spcBef>
              </a:pPr>
              <a:r>
                <a:rPr lang="en-US" sz="8250" b="1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Dataset Used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1575" y="180612"/>
            <a:ext cx="4605202" cy="40386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1177" y="4429981"/>
            <a:ext cx="7946715" cy="4006724"/>
            <a:chOff x="0" y="0"/>
            <a:chExt cx="1494973" cy="7537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94973" cy="753763"/>
            </a:xfrm>
            <a:custGeom>
              <a:avLst/>
              <a:gdLst/>
              <a:ahLst/>
              <a:cxnLst/>
              <a:rect l="l" t="t" r="r" b="b"/>
              <a:pathLst>
                <a:path w="1494973" h="753763">
                  <a:moveTo>
                    <a:pt x="48711" y="0"/>
                  </a:moveTo>
                  <a:lnTo>
                    <a:pt x="1446261" y="0"/>
                  </a:lnTo>
                  <a:cubicBezTo>
                    <a:pt x="1459180" y="0"/>
                    <a:pt x="1471570" y="5132"/>
                    <a:pt x="1480706" y="14267"/>
                  </a:cubicBezTo>
                  <a:cubicBezTo>
                    <a:pt x="1489841" y="23402"/>
                    <a:pt x="1494973" y="35792"/>
                    <a:pt x="1494973" y="48711"/>
                  </a:cubicBezTo>
                  <a:lnTo>
                    <a:pt x="1494973" y="705052"/>
                  </a:lnTo>
                  <a:cubicBezTo>
                    <a:pt x="1494973" y="731955"/>
                    <a:pt x="1473164" y="753763"/>
                    <a:pt x="1446261" y="753763"/>
                  </a:cubicBezTo>
                  <a:lnTo>
                    <a:pt x="48711" y="753763"/>
                  </a:lnTo>
                  <a:cubicBezTo>
                    <a:pt x="21809" y="753763"/>
                    <a:pt x="0" y="731955"/>
                    <a:pt x="0" y="705052"/>
                  </a:cubicBezTo>
                  <a:lnTo>
                    <a:pt x="0" y="48711"/>
                  </a:lnTo>
                  <a:cubicBezTo>
                    <a:pt x="0" y="21809"/>
                    <a:pt x="21809" y="0"/>
                    <a:pt x="487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94973" cy="791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Source: Meteorological and hydrological records.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Attributes: Rainfall, soil moisture, river levels, urbanization, dam quality, etc.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Target variable: Flood Probability (continuous or binned).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 split: 80% training, 20% testing.</a:t>
              </a:r>
            </a:p>
            <a:p>
              <a:pPr algn="l">
                <a:lnSpc>
                  <a:spcPts val="3769"/>
                </a:lnSpc>
              </a:pPr>
              <a:endParaRPr lang="en-US" sz="28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859244" y="8799510"/>
            <a:ext cx="20006488" cy="2891773"/>
            <a:chOff x="0" y="0"/>
            <a:chExt cx="26675317" cy="38556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3" name="Freeform 23"/>
          <p:cNvSpPr/>
          <p:nvPr/>
        </p:nvSpPr>
        <p:spPr>
          <a:xfrm>
            <a:off x="8460740" y="2722590"/>
            <a:ext cx="11546306" cy="8145394"/>
          </a:xfrm>
          <a:custGeom>
            <a:avLst/>
            <a:gdLst/>
            <a:ahLst/>
            <a:cxnLst/>
            <a:rect l="l" t="t" r="r" b="b"/>
            <a:pathLst>
              <a:path w="11546306" h="8145394">
                <a:moveTo>
                  <a:pt x="0" y="0"/>
                </a:moveTo>
                <a:lnTo>
                  <a:pt x="11546307" y="0"/>
                </a:lnTo>
                <a:lnTo>
                  <a:pt x="11546307" y="8145394"/>
                </a:lnTo>
                <a:lnTo>
                  <a:pt x="0" y="814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F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4427" y="326264"/>
            <a:ext cx="12290430" cy="3740911"/>
            <a:chOff x="0" y="0"/>
            <a:chExt cx="16387240" cy="4987881"/>
          </a:xfrm>
        </p:grpSpPr>
        <p:grpSp>
          <p:nvGrpSpPr>
            <p:cNvPr id="3" name="Group 3"/>
            <p:cNvGrpSpPr/>
            <p:nvPr/>
          </p:nvGrpSpPr>
          <p:grpSpPr>
            <a:xfrm>
              <a:off x="248292" y="167660"/>
              <a:ext cx="16138949" cy="4820221"/>
              <a:chOff x="0" y="0"/>
              <a:chExt cx="3863713" cy="11539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863713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3863713" h="1153975">
                    <a:moveTo>
                      <a:pt x="26915" y="0"/>
                    </a:moveTo>
                    <a:lnTo>
                      <a:pt x="3836798" y="0"/>
                    </a:lnTo>
                    <a:cubicBezTo>
                      <a:pt x="3843936" y="0"/>
                      <a:pt x="3850782" y="2836"/>
                      <a:pt x="3855829" y="7883"/>
                    </a:cubicBezTo>
                    <a:cubicBezTo>
                      <a:pt x="3860877" y="12931"/>
                      <a:pt x="3863713" y="19776"/>
                      <a:pt x="3863713" y="26915"/>
                    </a:cubicBezTo>
                    <a:lnTo>
                      <a:pt x="3863713" y="1127061"/>
                    </a:lnTo>
                    <a:cubicBezTo>
                      <a:pt x="3863713" y="1134199"/>
                      <a:pt x="3860877" y="1141045"/>
                      <a:pt x="3855829" y="1146092"/>
                    </a:cubicBezTo>
                    <a:cubicBezTo>
                      <a:pt x="3850782" y="1151140"/>
                      <a:pt x="3843936" y="1153975"/>
                      <a:pt x="3836798" y="1153975"/>
                    </a:cubicBezTo>
                    <a:lnTo>
                      <a:pt x="26915" y="1153975"/>
                    </a:lnTo>
                    <a:cubicBezTo>
                      <a:pt x="12050" y="1153975"/>
                      <a:pt x="0" y="1141925"/>
                      <a:pt x="0" y="1127061"/>
                    </a:cubicBezTo>
                    <a:lnTo>
                      <a:pt x="0" y="26915"/>
                    </a:lnTo>
                    <a:cubicBezTo>
                      <a:pt x="0" y="19776"/>
                      <a:pt x="2836" y="12931"/>
                      <a:pt x="7883" y="7883"/>
                    </a:cubicBezTo>
                    <a:cubicBezTo>
                      <a:pt x="12931" y="2836"/>
                      <a:pt x="19776" y="0"/>
                      <a:pt x="26915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3863713" cy="1192075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6138949" cy="4820221"/>
              <a:chOff x="0" y="0"/>
              <a:chExt cx="3863713" cy="11539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63713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3863713" h="1153975">
                    <a:moveTo>
                      <a:pt x="26915" y="0"/>
                    </a:moveTo>
                    <a:lnTo>
                      <a:pt x="3836798" y="0"/>
                    </a:lnTo>
                    <a:cubicBezTo>
                      <a:pt x="3843936" y="0"/>
                      <a:pt x="3850782" y="2836"/>
                      <a:pt x="3855829" y="7883"/>
                    </a:cubicBezTo>
                    <a:cubicBezTo>
                      <a:pt x="3860877" y="12931"/>
                      <a:pt x="3863713" y="19776"/>
                      <a:pt x="3863713" y="26915"/>
                    </a:cubicBezTo>
                    <a:lnTo>
                      <a:pt x="3863713" y="1127061"/>
                    </a:lnTo>
                    <a:cubicBezTo>
                      <a:pt x="3863713" y="1134199"/>
                      <a:pt x="3860877" y="1141045"/>
                      <a:pt x="3855829" y="1146092"/>
                    </a:cubicBezTo>
                    <a:cubicBezTo>
                      <a:pt x="3850782" y="1151140"/>
                      <a:pt x="3843936" y="1153975"/>
                      <a:pt x="3836798" y="1153975"/>
                    </a:cubicBezTo>
                    <a:lnTo>
                      <a:pt x="26915" y="1153975"/>
                    </a:lnTo>
                    <a:cubicBezTo>
                      <a:pt x="12050" y="1153975"/>
                      <a:pt x="0" y="1141925"/>
                      <a:pt x="0" y="1127061"/>
                    </a:cubicBezTo>
                    <a:lnTo>
                      <a:pt x="0" y="26915"/>
                    </a:lnTo>
                    <a:cubicBezTo>
                      <a:pt x="0" y="19776"/>
                      <a:pt x="2836" y="12931"/>
                      <a:pt x="7883" y="7883"/>
                    </a:cubicBezTo>
                    <a:cubicBezTo>
                      <a:pt x="12931" y="2836"/>
                      <a:pt x="19776" y="0"/>
                      <a:pt x="26915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3863713" cy="118255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724373" y="886556"/>
              <a:ext cx="10862754" cy="3123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76"/>
                </a:lnSpc>
                <a:spcBef>
                  <a:spcPct val="0"/>
                </a:spcBef>
              </a:pPr>
              <a:r>
                <a:rPr lang="en-US" sz="8250" b="1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Attributes and Target Class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39663" y="326264"/>
            <a:ext cx="3231580" cy="32315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76" y="4200953"/>
            <a:ext cx="6613215" cy="4482974"/>
            <a:chOff x="0" y="0"/>
            <a:chExt cx="1244109" cy="8433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44109" cy="843358"/>
            </a:xfrm>
            <a:custGeom>
              <a:avLst/>
              <a:gdLst/>
              <a:ahLst/>
              <a:cxnLst/>
              <a:rect l="l" t="t" r="r" b="b"/>
              <a:pathLst>
                <a:path w="1244109" h="843358">
                  <a:moveTo>
                    <a:pt x="58534" y="0"/>
                  </a:moveTo>
                  <a:lnTo>
                    <a:pt x="1185575" y="0"/>
                  </a:lnTo>
                  <a:cubicBezTo>
                    <a:pt x="1217902" y="0"/>
                    <a:pt x="1244109" y="26206"/>
                    <a:pt x="1244109" y="58534"/>
                  </a:cubicBezTo>
                  <a:lnTo>
                    <a:pt x="1244109" y="784824"/>
                  </a:lnTo>
                  <a:cubicBezTo>
                    <a:pt x="1244109" y="817151"/>
                    <a:pt x="1217902" y="843358"/>
                    <a:pt x="1185575" y="843358"/>
                  </a:cubicBezTo>
                  <a:lnTo>
                    <a:pt x="58534" y="843358"/>
                  </a:lnTo>
                  <a:cubicBezTo>
                    <a:pt x="26206" y="843358"/>
                    <a:pt x="0" y="817151"/>
                    <a:pt x="0" y="784824"/>
                  </a:cubicBezTo>
                  <a:lnTo>
                    <a:pt x="0" y="58534"/>
                  </a:lnTo>
                  <a:cubicBezTo>
                    <a:pt x="0" y="26206"/>
                    <a:pt x="26206" y="0"/>
                    <a:pt x="585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44109" cy="881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Sourced from the UCI Machine Learning Repository.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Contains 50,000 rows and 21 features representing meteorological, geographical, environmental, and socio-economic indicators.</a:t>
              </a:r>
            </a:p>
            <a:p>
              <a:pPr algn="l">
                <a:lnSpc>
                  <a:spcPts val="3769"/>
                </a:lnSpc>
              </a:pPr>
              <a:endParaRPr lang="en-US" sz="28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925306" y="8798654"/>
            <a:ext cx="24138612" cy="3489037"/>
            <a:chOff x="0" y="0"/>
            <a:chExt cx="32184815" cy="46520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56112" cy="993891"/>
            </a:xfrm>
            <a:custGeom>
              <a:avLst/>
              <a:gdLst/>
              <a:ahLst/>
              <a:cxnLst/>
              <a:rect l="l" t="t" r="r" b="b"/>
              <a:pathLst>
                <a:path w="10756112" h="993891">
                  <a:moveTo>
                    <a:pt x="0" y="0"/>
                  </a:moveTo>
                  <a:lnTo>
                    <a:pt x="10756112" y="0"/>
                  </a:lnTo>
                  <a:lnTo>
                    <a:pt x="10756112" y="993891"/>
                  </a:lnTo>
                  <a:lnTo>
                    <a:pt x="0" y="993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0714351" y="0"/>
              <a:ext cx="10756112" cy="993891"/>
            </a:xfrm>
            <a:custGeom>
              <a:avLst/>
              <a:gdLst/>
              <a:ahLst/>
              <a:cxnLst/>
              <a:rect l="l" t="t" r="r" b="b"/>
              <a:pathLst>
                <a:path w="10756112" h="993891">
                  <a:moveTo>
                    <a:pt x="0" y="0"/>
                  </a:moveTo>
                  <a:lnTo>
                    <a:pt x="10756113" y="0"/>
                  </a:lnTo>
                  <a:lnTo>
                    <a:pt x="10756113" y="993891"/>
                  </a:lnTo>
                  <a:lnTo>
                    <a:pt x="0" y="993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1428703" y="0"/>
              <a:ext cx="10756112" cy="993891"/>
            </a:xfrm>
            <a:custGeom>
              <a:avLst/>
              <a:gdLst/>
              <a:ahLst/>
              <a:cxnLst/>
              <a:rect l="l" t="t" r="r" b="b"/>
              <a:pathLst>
                <a:path w="10756112" h="993891">
                  <a:moveTo>
                    <a:pt x="0" y="0"/>
                  </a:moveTo>
                  <a:lnTo>
                    <a:pt x="10756112" y="0"/>
                  </a:lnTo>
                  <a:lnTo>
                    <a:pt x="10756112" y="993891"/>
                  </a:lnTo>
                  <a:lnTo>
                    <a:pt x="0" y="993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616130" y="496946"/>
              <a:ext cx="30952556" cy="4155104"/>
              <a:chOff x="0" y="0"/>
              <a:chExt cx="5067457" cy="68026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7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6972259" y="4191428"/>
            <a:ext cx="9982241" cy="4482974"/>
            <a:chOff x="0" y="0"/>
            <a:chExt cx="1877905" cy="8433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77906" cy="843358"/>
            </a:xfrm>
            <a:custGeom>
              <a:avLst/>
              <a:gdLst/>
              <a:ahLst/>
              <a:cxnLst/>
              <a:rect l="l" t="t" r="r" b="b"/>
              <a:pathLst>
                <a:path w="1877906" h="843358">
                  <a:moveTo>
                    <a:pt x="38778" y="0"/>
                  </a:moveTo>
                  <a:lnTo>
                    <a:pt x="1839127" y="0"/>
                  </a:lnTo>
                  <a:cubicBezTo>
                    <a:pt x="1849412" y="0"/>
                    <a:pt x="1859275" y="4086"/>
                    <a:pt x="1866548" y="11358"/>
                  </a:cubicBezTo>
                  <a:cubicBezTo>
                    <a:pt x="1873820" y="18630"/>
                    <a:pt x="1877906" y="28494"/>
                    <a:pt x="1877906" y="38778"/>
                  </a:cubicBezTo>
                  <a:lnTo>
                    <a:pt x="1877906" y="804579"/>
                  </a:lnTo>
                  <a:cubicBezTo>
                    <a:pt x="1877906" y="814864"/>
                    <a:pt x="1873820" y="824727"/>
                    <a:pt x="1866548" y="832000"/>
                  </a:cubicBezTo>
                  <a:cubicBezTo>
                    <a:pt x="1859275" y="839272"/>
                    <a:pt x="1849412" y="843358"/>
                    <a:pt x="1839127" y="843358"/>
                  </a:cubicBezTo>
                  <a:lnTo>
                    <a:pt x="38778" y="843358"/>
                  </a:lnTo>
                  <a:cubicBezTo>
                    <a:pt x="28494" y="843358"/>
                    <a:pt x="18630" y="839272"/>
                    <a:pt x="11358" y="832000"/>
                  </a:cubicBezTo>
                  <a:cubicBezTo>
                    <a:pt x="4086" y="824727"/>
                    <a:pt x="0" y="814864"/>
                    <a:pt x="0" y="804579"/>
                  </a:cubicBezTo>
                  <a:lnTo>
                    <a:pt x="0" y="38778"/>
                  </a:lnTo>
                  <a:cubicBezTo>
                    <a:pt x="0" y="28494"/>
                    <a:pt x="4086" y="18630"/>
                    <a:pt x="11358" y="11358"/>
                  </a:cubicBezTo>
                  <a:cubicBezTo>
                    <a:pt x="18630" y="4086"/>
                    <a:pt x="28494" y="0"/>
                    <a:pt x="387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877905" cy="881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769"/>
                </a:lnSpc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  Key Attributes (Features)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MonsoonIntensity 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– Volume of rainfall during monsoon seasons.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RiverManagement 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– Effectiveness of river flow and infrastructure.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Deforestation 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– Area affected by deforestation.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Urbanization 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– Development level in flood-prone zones.</a:t>
              </a:r>
            </a:p>
            <a:p>
              <a:pPr algn="l">
                <a:lnSpc>
                  <a:spcPts val="3769"/>
                </a:lnSpc>
              </a:pPr>
              <a:endParaRPr lang="en-US" sz="2899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endParaRPr>
            </a:p>
          </p:txBody>
        </p:sp>
      </p:grpSp>
      <p:sp>
        <p:nvSpPr>
          <p:cNvPr id="26" name="Freeform 16">
            <a:extLst>
              <a:ext uri="{FF2B5EF4-FFF2-40B4-BE49-F238E27FC236}">
                <a16:creationId xmlns:a16="http://schemas.microsoft.com/office/drawing/2014/main" id="{F655DE28-FC5D-3B8E-C000-DA0489304293}"/>
              </a:ext>
            </a:extLst>
          </p:cNvPr>
          <p:cNvSpPr/>
          <p:nvPr/>
        </p:nvSpPr>
        <p:spPr>
          <a:xfrm>
            <a:off x="9675919" y="9861812"/>
            <a:ext cx="10609455" cy="8969812"/>
          </a:xfrm>
          <a:custGeom>
            <a:avLst/>
            <a:gdLst/>
            <a:ahLst/>
            <a:cxnLst/>
            <a:rect l="l" t="t" r="r" b="b"/>
            <a:pathLst>
              <a:path w="10609455" h="8969812">
                <a:moveTo>
                  <a:pt x="0" y="0"/>
                </a:moveTo>
                <a:lnTo>
                  <a:pt x="10609455" y="0"/>
                </a:lnTo>
                <a:lnTo>
                  <a:pt x="10609455" y="8969812"/>
                </a:lnTo>
                <a:lnTo>
                  <a:pt x="0" y="8969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F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4427" y="326264"/>
            <a:ext cx="12290430" cy="3740911"/>
            <a:chOff x="0" y="0"/>
            <a:chExt cx="16387240" cy="4987881"/>
          </a:xfrm>
        </p:grpSpPr>
        <p:grpSp>
          <p:nvGrpSpPr>
            <p:cNvPr id="3" name="Group 3"/>
            <p:cNvGrpSpPr/>
            <p:nvPr/>
          </p:nvGrpSpPr>
          <p:grpSpPr>
            <a:xfrm>
              <a:off x="248292" y="167660"/>
              <a:ext cx="16138949" cy="4820221"/>
              <a:chOff x="0" y="0"/>
              <a:chExt cx="3863713" cy="11539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863713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3863713" h="1153975">
                    <a:moveTo>
                      <a:pt x="26915" y="0"/>
                    </a:moveTo>
                    <a:lnTo>
                      <a:pt x="3836798" y="0"/>
                    </a:lnTo>
                    <a:cubicBezTo>
                      <a:pt x="3843936" y="0"/>
                      <a:pt x="3850782" y="2836"/>
                      <a:pt x="3855829" y="7883"/>
                    </a:cubicBezTo>
                    <a:cubicBezTo>
                      <a:pt x="3860877" y="12931"/>
                      <a:pt x="3863713" y="19776"/>
                      <a:pt x="3863713" y="26915"/>
                    </a:cubicBezTo>
                    <a:lnTo>
                      <a:pt x="3863713" y="1127061"/>
                    </a:lnTo>
                    <a:cubicBezTo>
                      <a:pt x="3863713" y="1134199"/>
                      <a:pt x="3860877" y="1141045"/>
                      <a:pt x="3855829" y="1146092"/>
                    </a:cubicBezTo>
                    <a:cubicBezTo>
                      <a:pt x="3850782" y="1151140"/>
                      <a:pt x="3843936" y="1153975"/>
                      <a:pt x="3836798" y="1153975"/>
                    </a:cubicBezTo>
                    <a:lnTo>
                      <a:pt x="26915" y="1153975"/>
                    </a:lnTo>
                    <a:cubicBezTo>
                      <a:pt x="12050" y="1153975"/>
                      <a:pt x="0" y="1141925"/>
                      <a:pt x="0" y="1127061"/>
                    </a:cubicBezTo>
                    <a:lnTo>
                      <a:pt x="0" y="26915"/>
                    </a:lnTo>
                    <a:cubicBezTo>
                      <a:pt x="0" y="19776"/>
                      <a:pt x="2836" y="12931"/>
                      <a:pt x="7883" y="7883"/>
                    </a:cubicBezTo>
                    <a:cubicBezTo>
                      <a:pt x="12931" y="2836"/>
                      <a:pt x="19776" y="0"/>
                      <a:pt x="26915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3863713" cy="1192075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6138949" cy="4820221"/>
              <a:chOff x="0" y="0"/>
              <a:chExt cx="3863713" cy="11539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63713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3863713" h="1153975">
                    <a:moveTo>
                      <a:pt x="26915" y="0"/>
                    </a:moveTo>
                    <a:lnTo>
                      <a:pt x="3836798" y="0"/>
                    </a:lnTo>
                    <a:cubicBezTo>
                      <a:pt x="3843936" y="0"/>
                      <a:pt x="3850782" y="2836"/>
                      <a:pt x="3855829" y="7883"/>
                    </a:cubicBezTo>
                    <a:cubicBezTo>
                      <a:pt x="3860877" y="12931"/>
                      <a:pt x="3863713" y="19776"/>
                      <a:pt x="3863713" y="26915"/>
                    </a:cubicBezTo>
                    <a:lnTo>
                      <a:pt x="3863713" y="1127061"/>
                    </a:lnTo>
                    <a:cubicBezTo>
                      <a:pt x="3863713" y="1134199"/>
                      <a:pt x="3860877" y="1141045"/>
                      <a:pt x="3855829" y="1146092"/>
                    </a:cubicBezTo>
                    <a:cubicBezTo>
                      <a:pt x="3850782" y="1151140"/>
                      <a:pt x="3843936" y="1153975"/>
                      <a:pt x="3836798" y="1153975"/>
                    </a:cubicBezTo>
                    <a:lnTo>
                      <a:pt x="26915" y="1153975"/>
                    </a:lnTo>
                    <a:cubicBezTo>
                      <a:pt x="12050" y="1153975"/>
                      <a:pt x="0" y="1141925"/>
                      <a:pt x="0" y="1127061"/>
                    </a:cubicBezTo>
                    <a:lnTo>
                      <a:pt x="0" y="26915"/>
                    </a:lnTo>
                    <a:cubicBezTo>
                      <a:pt x="0" y="19776"/>
                      <a:pt x="2836" y="12931"/>
                      <a:pt x="7883" y="7883"/>
                    </a:cubicBezTo>
                    <a:cubicBezTo>
                      <a:pt x="12931" y="2836"/>
                      <a:pt x="19776" y="0"/>
                      <a:pt x="26915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3863713" cy="118255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724373" y="886556"/>
              <a:ext cx="10862754" cy="3123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76"/>
                </a:lnSpc>
                <a:spcBef>
                  <a:spcPct val="0"/>
                </a:spcBef>
              </a:pPr>
              <a:r>
                <a:rPr lang="en-US" sz="8250" b="1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Attributes and Target Class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966785" y="-1159117"/>
            <a:ext cx="6711674" cy="671167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9058" y="4191428"/>
            <a:ext cx="9982241" cy="4482974"/>
            <a:chOff x="0" y="0"/>
            <a:chExt cx="1877905" cy="8433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77906" cy="843358"/>
            </a:xfrm>
            <a:custGeom>
              <a:avLst/>
              <a:gdLst/>
              <a:ahLst/>
              <a:cxnLst/>
              <a:rect l="l" t="t" r="r" b="b"/>
              <a:pathLst>
                <a:path w="1877906" h="843358">
                  <a:moveTo>
                    <a:pt x="38778" y="0"/>
                  </a:moveTo>
                  <a:lnTo>
                    <a:pt x="1839127" y="0"/>
                  </a:lnTo>
                  <a:cubicBezTo>
                    <a:pt x="1849412" y="0"/>
                    <a:pt x="1859275" y="4086"/>
                    <a:pt x="1866548" y="11358"/>
                  </a:cubicBezTo>
                  <a:cubicBezTo>
                    <a:pt x="1873820" y="18630"/>
                    <a:pt x="1877906" y="28494"/>
                    <a:pt x="1877906" y="38778"/>
                  </a:cubicBezTo>
                  <a:lnTo>
                    <a:pt x="1877906" y="804579"/>
                  </a:lnTo>
                  <a:cubicBezTo>
                    <a:pt x="1877906" y="814864"/>
                    <a:pt x="1873820" y="824727"/>
                    <a:pt x="1866548" y="832000"/>
                  </a:cubicBezTo>
                  <a:cubicBezTo>
                    <a:pt x="1859275" y="839272"/>
                    <a:pt x="1849412" y="843358"/>
                    <a:pt x="1839127" y="843358"/>
                  </a:cubicBezTo>
                  <a:lnTo>
                    <a:pt x="38778" y="843358"/>
                  </a:lnTo>
                  <a:cubicBezTo>
                    <a:pt x="28494" y="843358"/>
                    <a:pt x="18630" y="839272"/>
                    <a:pt x="11358" y="832000"/>
                  </a:cubicBezTo>
                  <a:cubicBezTo>
                    <a:pt x="4086" y="824727"/>
                    <a:pt x="0" y="814864"/>
                    <a:pt x="0" y="804579"/>
                  </a:cubicBezTo>
                  <a:lnTo>
                    <a:pt x="0" y="38778"/>
                  </a:lnTo>
                  <a:cubicBezTo>
                    <a:pt x="0" y="28494"/>
                    <a:pt x="4086" y="18630"/>
                    <a:pt x="11358" y="11358"/>
                  </a:cubicBezTo>
                  <a:cubicBezTo>
                    <a:pt x="18630" y="4086"/>
                    <a:pt x="28494" y="0"/>
                    <a:pt x="387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877905" cy="881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769"/>
                </a:lnSpc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  Target Class: FloodProbability</a:t>
              </a:r>
            </a:p>
            <a:p>
              <a:pPr algn="l">
                <a:lnSpc>
                  <a:spcPts val="3769"/>
                </a:lnSpc>
              </a:pPr>
              <a:endParaRPr lang="en-US" sz="28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Originally a continuous variable (0 to 1 range).</a:t>
              </a:r>
            </a:p>
            <a:p>
              <a:pPr marL="626106" lvl="1" indent="-313053" algn="l">
                <a:lnSpc>
                  <a:spcPts val="3769"/>
                </a:lnSpc>
                <a:buFont typeface="Arial"/>
                <a:buChar char="•"/>
              </a:pP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Binned into 3 categories for classification:</a:t>
              </a:r>
            </a:p>
            <a:p>
              <a:pPr algn="l">
                <a:lnSpc>
                  <a:spcPts val="3769"/>
                </a:lnSpc>
              </a:pPr>
              <a:endParaRPr lang="en-US" sz="2899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endParaRPr>
            </a:p>
            <a:p>
              <a:pPr marL="1252211" lvl="2" indent="-417404" algn="l">
                <a:lnSpc>
                  <a:spcPts val="3769"/>
                </a:lnSpc>
                <a:buFont typeface="Arial"/>
                <a:buChar char="⚬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Low Risk (0):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 FloodProbability &lt; 0.45</a:t>
              </a:r>
            </a:p>
            <a:p>
              <a:pPr marL="1252211" lvl="2" indent="-417404" algn="l">
                <a:lnSpc>
                  <a:spcPts val="3769"/>
                </a:lnSpc>
                <a:buFont typeface="Arial"/>
                <a:buChar char="⚬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Medium Risk (1):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 0.45 ≤ FloodProbability ≤ 0.55</a:t>
              </a:r>
            </a:p>
            <a:p>
              <a:pPr marL="1252211" lvl="2" indent="-417404" algn="l">
                <a:lnSpc>
                  <a:spcPts val="3769"/>
                </a:lnSpc>
                <a:buFont typeface="Arial"/>
                <a:buChar char="⚬"/>
              </a:pPr>
              <a:r>
                <a:rPr lang="en-US" sz="28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High Risk (2): </a:t>
              </a:r>
              <a:r>
                <a:rPr lang="en-US" sz="28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FloodProbability &gt; 0.55</a:t>
              </a:r>
            </a:p>
            <a:p>
              <a:pPr algn="l">
                <a:lnSpc>
                  <a:spcPts val="3769"/>
                </a:lnSpc>
              </a:pPr>
              <a:endParaRPr lang="en-US" sz="2899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371213" y="1028700"/>
            <a:ext cx="10609455" cy="8969812"/>
          </a:xfrm>
          <a:custGeom>
            <a:avLst/>
            <a:gdLst/>
            <a:ahLst/>
            <a:cxnLst/>
            <a:rect l="l" t="t" r="r" b="b"/>
            <a:pathLst>
              <a:path w="10609455" h="8969812">
                <a:moveTo>
                  <a:pt x="0" y="0"/>
                </a:moveTo>
                <a:lnTo>
                  <a:pt x="10609455" y="0"/>
                </a:lnTo>
                <a:lnTo>
                  <a:pt x="10609455" y="8969812"/>
                </a:lnTo>
                <a:lnTo>
                  <a:pt x="0" y="8969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2925306" y="8798654"/>
            <a:ext cx="24138612" cy="3489037"/>
            <a:chOff x="0" y="0"/>
            <a:chExt cx="32184815" cy="46520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56112" cy="993891"/>
            </a:xfrm>
            <a:custGeom>
              <a:avLst/>
              <a:gdLst/>
              <a:ahLst/>
              <a:cxnLst/>
              <a:rect l="l" t="t" r="r" b="b"/>
              <a:pathLst>
                <a:path w="10756112" h="993891">
                  <a:moveTo>
                    <a:pt x="0" y="0"/>
                  </a:moveTo>
                  <a:lnTo>
                    <a:pt x="10756112" y="0"/>
                  </a:lnTo>
                  <a:lnTo>
                    <a:pt x="10756112" y="993891"/>
                  </a:lnTo>
                  <a:lnTo>
                    <a:pt x="0" y="993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0714351" y="0"/>
              <a:ext cx="10756112" cy="993891"/>
            </a:xfrm>
            <a:custGeom>
              <a:avLst/>
              <a:gdLst/>
              <a:ahLst/>
              <a:cxnLst/>
              <a:rect l="l" t="t" r="r" b="b"/>
              <a:pathLst>
                <a:path w="10756112" h="993891">
                  <a:moveTo>
                    <a:pt x="0" y="0"/>
                  </a:moveTo>
                  <a:lnTo>
                    <a:pt x="10756113" y="0"/>
                  </a:lnTo>
                  <a:lnTo>
                    <a:pt x="10756113" y="993891"/>
                  </a:lnTo>
                  <a:lnTo>
                    <a:pt x="0" y="993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21428703" y="0"/>
              <a:ext cx="10756112" cy="993891"/>
            </a:xfrm>
            <a:custGeom>
              <a:avLst/>
              <a:gdLst/>
              <a:ahLst/>
              <a:cxnLst/>
              <a:rect l="l" t="t" r="r" b="b"/>
              <a:pathLst>
                <a:path w="10756112" h="993891">
                  <a:moveTo>
                    <a:pt x="0" y="0"/>
                  </a:moveTo>
                  <a:lnTo>
                    <a:pt x="10756112" y="0"/>
                  </a:lnTo>
                  <a:lnTo>
                    <a:pt x="10756112" y="993891"/>
                  </a:lnTo>
                  <a:lnTo>
                    <a:pt x="0" y="993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616130" y="496946"/>
              <a:ext cx="30952556" cy="4155104"/>
              <a:chOff x="0" y="0"/>
              <a:chExt cx="5067457" cy="68026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7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190500"/>
            <a:ext cx="19240500" cy="2381250"/>
            <a:chOff x="0" y="0"/>
            <a:chExt cx="25654000" cy="3175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FFC0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95356" y="508644"/>
            <a:ext cx="6819900" cy="982963"/>
            <a:chOff x="0" y="0"/>
            <a:chExt cx="9093200" cy="1310617"/>
          </a:xfrm>
        </p:grpSpPr>
        <p:grpSp>
          <p:nvGrpSpPr>
            <p:cNvPr id="10" name="Group 10"/>
            <p:cNvGrpSpPr/>
            <p:nvPr/>
          </p:nvGrpSpPr>
          <p:grpSpPr>
            <a:xfrm>
              <a:off x="121648" y="203200"/>
              <a:ext cx="8971552" cy="1016000"/>
              <a:chOff x="0" y="0"/>
              <a:chExt cx="1265827" cy="1433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65827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1265827" h="143351">
                    <a:moveTo>
                      <a:pt x="58680" y="0"/>
                    </a:moveTo>
                    <a:lnTo>
                      <a:pt x="1207147" y="0"/>
                    </a:lnTo>
                    <a:cubicBezTo>
                      <a:pt x="1239555" y="0"/>
                      <a:pt x="1265827" y="26272"/>
                      <a:pt x="1265827" y="58680"/>
                    </a:cubicBezTo>
                    <a:lnTo>
                      <a:pt x="1265827" y="84671"/>
                    </a:lnTo>
                    <a:cubicBezTo>
                      <a:pt x="1265827" y="117079"/>
                      <a:pt x="1239555" y="143351"/>
                      <a:pt x="1207147" y="143351"/>
                    </a:cubicBezTo>
                    <a:lnTo>
                      <a:pt x="58680" y="143351"/>
                    </a:lnTo>
                    <a:cubicBezTo>
                      <a:pt x="26272" y="143351"/>
                      <a:pt x="0" y="117079"/>
                      <a:pt x="0" y="84671"/>
                    </a:cubicBezTo>
                    <a:lnTo>
                      <a:pt x="0" y="58680"/>
                    </a:lnTo>
                    <a:cubicBezTo>
                      <a:pt x="0" y="26272"/>
                      <a:pt x="26272" y="0"/>
                      <a:pt x="58680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1265827" cy="1624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8971552" cy="1310617"/>
              <a:chOff x="0" y="0"/>
              <a:chExt cx="1265827" cy="18492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65827" cy="184920"/>
              </a:xfrm>
              <a:custGeom>
                <a:avLst/>
                <a:gdLst/>
                <a:ahLst/>
                <a:cxnLst/>
                <a:rect l="l" t="t" r="r" b="b"/>
                <a:pathLst>
                  <a:path w="1265827" h="184920">
                    <a:moveTo>
                      <a:pt x="58680" y="0"/>
                    </a:moveTo>
                    <a:lnTo>
                      <a:pt x="1207147" y="0"/>
                    </a:lnTo>
                    <a:cubicBezTo>
                      <a:pt x="1239555" y="0"/>
                      <a:pt x="1265827" y="26272"/>
                      <a:pt x="1265827" y="58680"/>
                    </a:cubicBezTo>
                    <a:lnTo>
                      <a:pt x="1265827" y="126240"/>
                    </a:lnTo>
                    <a:cubicBezTo>
                      <a:pt x="1265827" y="158648"/>
                      <a:pt x="1239555" y="184920"/>
                      <a:pt x="1207147" y="184920"/>
                    </a:cubicBezTo>
                    <a:lnTo>
                      <a:pt x="58680" y="184920"/>
                    </a:lnTo>
                    <a:cubicBezTo>
                      <a:pt x="26272" y="184920"/>
                      <a:pt x="0" y="158648"/>
                      <a:pt x="0" y="126240"/>
                    </a:cubicBezTo>
                    <a:lnTo>
                      <a:pt x="0" y="58680"/>
                    </a:lnTo>
                    <a:cubicBezTo>
                      <a:pt x="0" y="26272"/>
                      <a:pt x="26272" y="0"/>
                      <a:pt x="5868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1265827" cy="2420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719"/>
                  </a:lnSpc>
                </a:pPr>
                <a:r>
                  <a:rPr lang="en-US" sz="43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Literature Summary</a:t>
                </a:r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-1588482" y="2006494"/>
            <a:ext cx="21922209" cy="9096204"/>
            <a:chOff x="0" y="0"/>
            <a:chExt cx="2422696" cy="10052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22697" cy="1005252"/>
            </a:xfrm>
            <a:custGeom>
              <a:avLst/>
              <a:gdLst/>
              <a:ahLst/>
              <a:cxnLst/>
              <a:rect l="l" t="t" r="r" b="b"/>
              <a:pathLst>
                <a:path w="2422697" h="1005252">
                  <a:moveTo>
                    <a:pt x="0" y="0"/>
                  </a:moveTo>
                  <a:lnTo>
                    <a:pt x="2422697" y="0"/>
                  </a:lnTo>
                  <a:lnTo>
                    <a:pt x="2422697" y="1005252"/>
                  </a:lnTo>
                  <a:lnTo>
                    <a:pt x="0" y="100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22696" cy="1043352"/>
            </a:xfrm>
            <a:prstGeom prst="rect">
              <a:avLst/>
            </a:prstGeom>
          </p:spPr>
          <p:txBody>
            <a:bodyPr lIns="432379" tIns="432379" rIns="432379" bIns="432379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07722" y="-2541608"/>
            <a:ext cx="21922209" cy="9096204"/>
            <a:chOff x="0" y="0"/>
            <a:chExt cx="2422696" cy="10052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22697" cy="1005252"/>
            </a:xfrm>
            <a:custGeom>
              <a:avLst/>
              <a:gdLst/>
              <a:ahLst/>
              <a:cxnLst/>
              <a:rect l="l" t="t" r="r" b="b"/>
              <a:pathLst>
                <a:path w="2422697" h="1005252">
                  <a:moveTo>
                    <a:pt x="0" y="0"/>
                  </a:moveTo>
                  <a:lnTo>
                    <a:pt x="2422697" y="0"/>
                  </a:lnTo>
                  <a:lnTo>
                    <a:pt x="2422697" y="1005252"/>
                  </a:lnTo>
                  <a:lnTo>
                    <a:pt x="0" y="100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422696" cy="1043352"/>
            </a:xfrm>
            <a:prstGeom prst="rect">
              <a:avLst/>
            </a:prstGeom>
          </p:spPr>
          <p:txBody>
            <a:bodyPr lIns="432379" tIns="432379" rIns="432379" bIns="432379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07722" y="184097"/>
            <a:ext cx="5556918" cy="9918806"/>
            <a:chOff x="0" y="0"/>
            <a:chExt cx="7409225" cy="13225075"/>
          </a:xfrm>
        </p:grpSpPr>
        <p:grpSp>
          <p:nvGrpSpPr>
            <p:cNvPr id="23" name="Group 23"/>
            <p:cNvGrpSpPr/>
            <p:nvPr/>
          </p:nvGrpSpPr>
          <p:grpSpPr>
            <a:xfrm>
              <a:off x="170327" y="1631950"/>
              <a:ext cx="7238898" cy="3302000"/>
              <a:chOff x="0" y="0"/>
              <a:chExt cx="1021361" cy="46589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21361" cy="465891"/>
              </a:xfrm>
              <a:custGeom>
                <a:avLst/>
                <a:gdLst/>
                <a:ahLst/>
                <a:cxnLst/>
                <a:rect l="l" t="t" r="r" b="b"/>
                <a:pathLst>
                  <a:path w="1021361" h="465891">
                    <a:moveTo>
                      <a:pt x="71299" y="0"/>
                    </a:moveTo>
                    <a:lnTo>
                      <a:pt x="950062" y="0"/>
                    </a:lnTo>
                    <a:cubicBezTo>
                      <a:pt x="968972" y="0"/>
                      <a:pt x="987107" y="7512"/>
                      <a:pt x="1000478" y="20883"/>
                    </a:cubicBezTo>
                    <a:cubicBezTo>
                      <a:pt x="1013849" y="34254"/>
                      <a:pt x="1021361" y="52390"/>
                      <a:pt x="1021361" y="71299"/>
                    </a:cubicBezTo>
                    <a:lnTo>
                      <a:pt x="1021361" y="394591"/>
                    </a:lnTo>
                    <a:cubicBezTo>
                      <a:pt x="1021361" y="433969"/>
                      <a:pt x="989439" y="465891"/>
                      <a:pt x="950062" y="465891"/>
                    </a:cubicBezTo>
                    <a:lnTo>
                      <a:pt x="71299" y="465891"/>
                    </a:lnTo>
                    <a:cubicBezTo>
                      <a:pt x="52390" y="465891"/>
                      <a:pt x="34254" y="458379"/>
                      <a:pt x="20883" y="445008"/>
                    </a:cubicBezTo>
                    <a:cubicBezTo>
                      <a:pt x="7512" y="431636"/>
                      <a:pt x="0" y="413501"/>
                      <a:pt x="0" y="394591"/>
                    </a:cubicBezTo>
                    <a:lnTo>
                      <a:pt x="0" y="71299"/>
                    </a:lnTo>
                    <a:cubicBezTo>
                      <a:pt x="0" y="31922"/>
                      <a:pt x="31922" y="0"/>
                      <a:pt x="71299" y="0"/>
                    </a:cubicBezTo>
                    <a:close/>
                  </a:path>
                </a:pathLst>
              </a:custGeom>
              <a:solidFill>
                <a:srgbClr val="FFC05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021361" cy="50399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0"/>
              <a:ext cx="7238898" cy="13225075"/>
              <a:chOff x="0" y="0"/>
              <a:chExt cx="1021361" cy="186597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21361" cy="1865972"/>
              </a:xfrm>
              <a:custGeom>
                <a:avLst/>
                <a:gdLst/>
                <a:ahLst/>
                <a:cxnLst/>
                <a:rect l="l" t="t" r="r" b="b"/>
                <a:pathLst>
                  <a:path w="1021361" h="1865972">
                    <a:moveTo>
                      <a:pt x="0" y="0"/>
                    </a:moveTo>
                    <a:lnTo>
                      <a:pt x="1021361" y="0"/>
                    </a:lnTo>
                    <a:lnTo>
                      <a:pt x="1021361" y="1865972"/>
                    </a:lnTo>
                    <a:lnTo>
                      <a:pt x="0" y="186597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021361" cy="1904072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379"/>
                  </a:lnSpc>
                </a:pPr>
                <a:r>
                  <a:rPr lang="en-US" sz="2599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What We Learned from Past Studies</a:t>
                </a:r>
              </a:p>
              <a:p>
                <a:pPr algn="ctr">
                  <a:lnSpc>
                    <a:spcPts val="3379"/>
                  </a:lnSpc>
                </a:pPr>
                <a:endParaRPr lang="en-US" sz="25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endParaRPr>
              </a:p>
              <a:p>
                <a:pPr marL="561337" lvl="1" indent="-280669" algn="l">
                  <a:lnSpc>
                    <a:spcPts val="3379"/>
                  </a:lnSpc>
                  <a:buFont typeface="Arial"/>
                  <a:buChar char="•"/>
                </a:pPr>
                <a:r>
                  <a:rPr lang="en-US" sz="25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📊 Various machine learning models like SVM, RF, ANN, and LSTM have been used for flood and disaster prediction, showing promising accuracy.</a:t>
                </a:r>
              </a:p>
              <a:p>
                <a:pPr marL="561337" lvl="1" indent="-280669" algn="l">
                  <a:lnSpc>
                    <a:spcPts val="3379"/>
                  </a:lnSpc>
                  <a:buFont typeface="Arial"/>
                  <a:buChar char="•"/>
                </a:pPr>
                <a:r>
                  <a:rPr lang="en-US" sz="25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🌍 GIS integration and time-series forecasting enhance spatial analysis and real-time flood monitoring.</a:t>
                </a:r>
              </a:p>
              <a:p>
                <a:pPr marL="561337" lvl="1" indent="-280669" algn="l">
                  <a:lnSpc>
                    <a:spcPts val="3379"/>
                  </a:lnSpc>
                  <a:buFont typeface="Arial"/>
                  <a:buChar char="•"/>
                </a:pPr>
                <a:r>
                  <a:rPr lang="en-US" sz="25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⚠️ Common limitations include data quality issues, high preprocessing times, and difficulty generalizing models like CNN and LSTM.</a:t>
                </a:r>
              </a:p>
              <a:p>
                <a:pPr algn="ctr">
                  <a:lnSpc>
                    <a:spcPts val="3379"/>
                  </a:lnSpc>
                </a:pPr>
                <a:endPara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endParaRP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2846276" y="184097"/>
            <a:ext cx="4840227" cy="8204306"/>
            <a:chOff x="0" y="0"/>
            <a:chExt cx="910566" cy="15434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0566" cy="1543432"/>
            </a:xfrm>
            <a:custGeom>
              <a:avLst/>
              <a:gdLst/>
              <a:ahLst/>
              <a:cxnLst/>
              <a:rect l="l" t="t" r="r" b="b"/>
              <a:pathLst>
                <a:path w="910566" h="1543432">
                  <a:moveTo>
                    <a:pt x="0" y="0"/>
                  </a:moveTo>
                  <a:lnTo>
                    <a:pt x="910566" y="0"/>
                  </a:lnTo>
                  <a:lnTo>
                    <a:pt x="910566" y="1543432"/>
                  </a:lnTo>
                  <a:lnTo>
                    <a:pt x="0" y="1543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10566" cy="1581532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Why We Chose Random Forest &amp; SVM</a:t>
              </a:r>
            </a:p>
            <a:p>
              <a:pPr algn="ctr">
                <a:lnSpc>
                  <a:spcPts val="3379"/>
                </a:lnSpc>
              </a:pPr>
              <a:endParaRPr lang="en-US" sz="2599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endParaRPr>
            </a:p>
            <a:p>
              <a:pPr marL="561337" lvl="1" indent="-280669" algn="l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Random Forest is robust, handles non-linear relationships well, and provides reliable predictions with minimal overfitting.</a:t>
              </a:r>
            </a:p>
            <a:p>
              <a:pPr marL="561337" lvl="1" indent="-280669" algn="l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SVM excels in classification tasks with clear decision boundaries, especially effective with high-dimensional and imbalanced data.</a:t>
              </a:r>
            </a:p>
            <a:p>
              <a:pPr algn="l">
                <a:lnSpc>
                  <a:spcPts val="3379"/>
                </a:lnSpc>
              </a:pPr>
              <a:endParaRPr lang="en-US" sz="25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-1572239" y="2470682"/>
            <a:ext cx="9079961" cy="8632016"/>
          </a:xfrm>
          <a:custGeom>
            <a:avLst/>
            <a:gdLst/>
            <a:ahLst/>
            <a:cxnLst/>
            <a:rect l="l" t="t" r="r" b="b"/>
            <a:pathLst>
              <a:path w="9079961" h="8632016">
                <a:moveTo>
                  <a:pt x="0" y="0"/>
                </a:moveTo>
                <a:lnTo>
                  <a:pt x="9079961" y="0"/>
                </a:lnTo>
                <a:lnTo>
                  <a:pt x="9079961" y="8632016"/>
                </a:lnTo>
                <a:lnTo>
                  <a:pt x="0" y="863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33" name="Picture 15">
            <a:extLst>
              <a:ext uri="{FF2B5EF4-FFF2-40B4-BE49-F238E27FC236}">
                <a16:creationId xmlns:a16="http://schemas.microsoft.com/office/drawing/2014/main" id="{B42ABF27-6787-3AF8-F801-A06128658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771548">
            <a:off x="897539" y="5360157"/>
            <a:ext cx="16492921" cy="16575800"/>
          </a:xfrm>
          <a:prstGeom prst="rect">
            <a:avLst/>
          </a:prstGeom>
        </p:spPr>
      </p:pic>
      <p:sp>
        <p:nvSpPr>
          <p:cNvPr id="34" name="Freeform 17">
            <a:extLst>
              <a:ext uri="{FF2B5EF4-FFF2-40B4-BE49-F238E27FC236}">
                <a16:creationId xmlns:a16="http://schemas.microsoft.com/office/drawing/2014/main" id="{774B082C-013D-62F7-F962-D854BBF5663A}"/>
              </a:ext>
            </a:extLst>
          </p:cNvPr>
          <p:cNvSpPr/>
          <p:nvPr/>
        </p:nvSpPr>
        <p:spPr>
          <a:xfrm>
            <a:off x="20700510" y="1685325"/>
            <a:ext cx="8117098" cy="8117098"/>
          </a:xfrm>
          <a:custGeom>
            <a:avLst/>
            <a:gdLst/>
            <a:ahLst/>
            <a:cxnLst/>
            <a:rect l="l" t="t" r="r" b="b"/>
            <a:pathLst>
              <a:path w="8117098" h="8117098">
                <a:moveTo>
                  <a:pt x="0" y="0"/>
                </a:moveTo>
                <a:lnTo>
                  <a:pt x="8117099" y="0"/>
                </a:lnTo>
                <a:lnTo>
                  <a:pt x="8117099" y="8117098"/>
                </a:lnTo>
                <a:lnTo>
                  <a:pt x="0" y="8117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AA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1580" y="847725"/>
            <a:ext cx="12686516" cy="3614845"/>
            <a:chOff x="0" y="0"/>
            <a:chExt cx="16915354" cy="4819793"/>
          </a:xfrm>
        </p:grpSpPr>
        <p:grpSp>
          <p:nvGrpSpPr>
            <p:cNvPr id="3" name="Group 3"/>
            <p:cNvGrpSpPr/>
            <p:nvPr/>
          </p:nvGrpSpPr>
          <p:grpSpPr>
            <a:xfrm>
              <a:off x="295465" y="162010"/>
              <a:ext cx="16619890" cy="4657783"/>
              <a:chOff x="0" y="0"/>
              <a:chExt cx="3282941" cy="92005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282941" cy="920056"/>
              </a:xfrm>
              <a:custGeom>
                <a:avLst/>
                <a:gdLst/>
                <a:ahLst/>
                <a:cxnLst/>
                <a:rect l="l" t="t" r="r" b="b"/>
                <a:pathLst>
                  <a:path w="3282941" h="920056">
                    <a:moveTo>
                      <a:pt x="31676" y="0"/>
                    </a:moveTo>
                    <a:lnTo>
                      <a:pt x="3251265" y="0"/>
                    </a:lnTo>
                    <a:cubicBezTo>
                      <a:pt x="3259666" y="0"/>
                      <a:pt x="3267723" y="3337"/>
                      <a:pt x="3273663" y="9278"/>
                    </a:cubicBezTo>
                    <a:cubicBezTo>
                      <a:pt x="3279604" y="15218"/>
                      <a:pt x="3282941" y="23275"/>
                      <a:pt x="3282941" y="31676"/>
                    </a:cubicBezTo>
                    <a:lnTo>
                      <a:pt x="3282941" y="888380"/>
                    </a:lnTo>
                    <a:cubicBezTo>
                      <a:pt x="3282941" y="905874"/>
                      <a:pt x="3268759" y="920056"/>
                      <a:pt x="3251265" y="920056"/>
                    </a:cubicBezTo>
                    <a:lnTo>
                      <a:pt x="31676" y="920056"/>
                    </a:lnTo>
                    <a:cubicBezTo>
                      <a:pt x="14182" y="920056"/>
                      <a:pt x="0" y="905874"/>
                      <a:pt x="0" y="888380"/>
                    </a:cubicBezTo>
                    <a:lnTo>
                      <a:pt x="0" y="31676"/>
                    </a:lnTo>
                    <a:cubicBezTo>
                      <a:pt x="0" y="14182"/>
                      <a:pt x="14182" y="0"/>
                      <a:pt x="31676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3282941" cy="958156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6619890" cy="4657783"/>
              <a:chOff x="0" y="0"/>
              <a:chExt cx="3282941" cy="92005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282941" cy="920056"/>
              </a:xfrm>
              <a:custGeom>
                <a:avLst/>
                <a:gdLst/>
                <a:ahLst/>
                <a:cxnLst/>
                <a:rect l="l" t="t" r="r" b="b"/>
                <a:pathLst>
                  <a:path w="3282941" h="920056">
                    <a:moveTo>
                      <a:pt x="31676" y="0"/>
                    </a:moveTo>
                    <a:lnTo>
                      <a:pt x="3251265" y="0"/>
                    </a:lnTo>
                    <a:cubicBezTo>
                      <a:pt x="3259666" y="0"/>
                      <a:pt x="3267723" y="3337"/>
                      <a:pt x="3273663" y="9278"/>
                    </a:cubicBezTo>
                    <a:cubicBezTo>
                      <a:pt x="3279604" y="15218"/>
                      <a:pt x="3282941" y="23275"/>
                      <a:pt x="3282941" y="31676"/>
                    </a:cubicBezTo>
                    <a:lnTo>
                      <a:pt x="3282941" y="888380"/>
                    </a:lnTo>
                    <a:cubicBezTo>
                      <a:pt x="3282941" y="905874"/>
                      <a:pt x="3268759" y="920056"/>
                      <a:pt x="3251265" y="920056"/>
                    </a:cubicBezTo>
                    <a:lnTo>
                      <a:pt x="31676" y="920056"/>
                    </a:lnTo>
                    <a:cubicBezTo>
                      <a:pt x="14182" y="920056"/>
                      <a:pt x="0" y="905874"/>
                      <a:pt x="0" y="888380"/>
                    </a:cubicBezTo>
                    <a:lnTo>
                      <a:pt x="0" y="31676"/>
                    </a:lnTo>
                    <a:cubicBezTo>
                      <a:pt x="0" y="14182"/>
                      <a:pt x="14182" y="0"/>
                      <a:pt x="31676" y="0"/>
                    </a:cubicBezTo>
                    <a:close/>
                  </a:path>
                </a:pathLst>
              </a:custGeom>
              <a:solidFill>
                <a:srgbClr val="FFCF8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3282941" cy="94863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361910" y="4519720"/>
            <a:ext cx="10133836" cy="3540376"/>
            <a:chOff x="0" y="0"/>
            <a:chExt cx="2668994" cy="9324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68994" cy="932445"/>
            </a:xfrm>
            <a:custGeom>
              <a:avLst/>
              <a:gdLst/>
              <a:ahLst/>
              <a:cxnLst/>
              <a:rect l="l" t="t" r="r" b="b"/>
              <a:pathLst>
                <a:path w="2668994" h="932445">
                  <a:moveTo>
                    <a:pt x="38962" y="0"/>
                  </a:moveTo>
                  <a:lnTo>
                    <a:pt x="2630032" y="0"/>
                  </a:lnTo>
                  <a:cubicBezTo>
                    <a:pt x="2651550" y="0"/>
                    <a:pt x="2668994" y="17444"/>
                    <a:pt x="2668994" y="38962"/>
                  </a:cubicBezTo>
                  <a:lnTo>
                    <a:pt x="2668994" y="893482"/>
                  </a:lnTo>
                  <a:cubicBezTo>
                    <a:pt x="2668994" y="915001"/>
                    <a:pt x="2651550" y="932445"/>
                    <a:pt x="2630032" y="932445"/>
                  </a:cubicBezTo>
                  <a:lnTo>
                    <a:pt x="38962" y="932445"/>
                  </a:lnTo>
                  <a:cubicBezTo>
                    <a:pt x="28629" y="932445"/>
                    <a:pt x="18719" y="928340"/>
                    <a:pt x="11412" y="921033"/>
                  </a:cubicBezTo>
                  <a:cubicBezTo>
                    <a:pt x="4105" y="913726"/>
                    <a:pt x="0" y="903816"/>
                    <a:pt x="0" y="893482"/>
                  </a:cubicBezTo>
                  <a:lnTo>
                    <a:pt x="0" y="38962"/>
                  </a:lnTo>
                  <a:cubicBezTo>
                    <a:pt x="0" y="17444"/>
                    <a:pt x="17444" y="0"/>
                    <a:pt x="389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668994" cy="970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7905" y="4697592"/>
            <a:ext cx="9281845" cy="3613256"/>
            <a:chOff x="0" y="0"/>
            <a:chExt cx="1746144" cy="6797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46144" cy="679742"/>
            </a:xfrm>
            <a:custGeom>
              <a:avLst/>
              <a:gdLst/>
              <a:ahLst/>
              <a:cxnLst/>
              <a:rect l="l" t="t" r="r" b="b"/>
              <a:pathLst>
                <a:path w="1746144" h="679742">
                  <a:moveTo>
                    <a:pt x="0" y="0"/>
                  </a:moveTo>
                  <a:lnTo>
                    <a:pt x="1746144" y="0"/>
                  </a:lnTo>
                  <a:lnTo>
                    <a:pt x="1746144" y="679742"/>
                  </a:lnTo>
                  <a:lnTo>
                    <a:pt x="0" y="6797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46144" cy="717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Tool: Python (Scikit-learn)</a:t>
              </a:r>
            </a:p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Target: Categorical flood risk</a:t>
              </a:r>
            </a:p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Output: Predicted class (High/Medium/Low)</a:t>
              </a:r>
            </a:p>
            <a:p>
              <a:pPr algn="just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   </a:t>
              </a:r>
            </a:p>
            <a:p>
              <a:pPr algn="just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  Evaluation:</a:t>
              </a:r>
            </a:p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Accuracy, Precision, Recall, F1-Score</a:t>
              </a:r>
            </a:p>
            <a:p>
              <a:pPr marL="561337" lvl="1" indent="-280669" algn="just">
                <a:lnSpc>
                  <a:spcPts val="337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Confusion Matrix</a:t>
              </a:r>
            </a:p>
            <a:p>
              <a:pPr algn="just">
                <a:lnSpc>
                  <a:spcPts val="3379"/>
                </a:lnSpc>
              </a:pPr>
              <a:endParaRPr lang="en-US" sz="25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771548">
            <a:off x="897539" y="1450274"/>
            <a:ext cx="16492921" cy="16575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42925" y="1276077"/>
            <a:ext cx="10858534" cy="282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99"/>
              </a:lnSpc>
              <a:spcBef>
                <a:spcPct val="0"/>
              </a:spcBef>
            </a:pPr>
            <a:r>
              <a:rPr lang="en-US" sz="9999" b="1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Support Vector Machine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541476" y="1621076"/>
            <a:ext cx="8117098" cy="8117098"/>
          </a:xfrm>
          <a:custGeom>
            <a:avLst/>
            <a:gdLst/>
            <a:ahLst/>
            <a:cxnLst/>
            <a:rect l="l" t="t" r="r" b="b"/>
            <a:pathLst>
              <a:path w="8117098" h="8117098">
                <a:moveTo>
                  <a:pt x="0" y="0"/>
                </a:moveTo>
                <a:lnTo>
                  <a:pt x="8117099" y="0"/>
                </a:lnTo>
                <a:lnTo>
                  <a:pt x="8117099" y="8117098"/>
                </a:lnTo>
                <a:lnTo>
                  <a:pt x="0" y="8117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190500"/>
            <a:ext cx="19240500" cy="1219200"/>
            <a:chOff x="0" y="0"/>
            <a:chExt cx="25654000" cy="16256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1528064"/>
              <a:chOff x="0" y="0"/>
              <a:chExt cx="5067457" cy="3018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301840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301840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301840"/>
                    </a:lnTo>
                    <a:lnTo>
                      <a:pt x="0" y="301840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320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1495552"/>
              <a:ext cx="25654000" cy="130048"/>
              <a:chOff x="0" y="0"/>
              <a:chExt cx="5067457" cy="256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25688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25688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25688"/>
                    </a:lnTo>
                    <a:lnTo>
                      <a:pt x="0" y="25688"/>
                    </a:lnTo>
                    <a:close/>
                  </a:path>
                </a:pathLst>
              </a:custGeom>
              <a:solidFill>
                <a:srgbClr val="FFC0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447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326681" y="419100"/>
            <a:ext cx="9786768" cy="1498228"/>
            <a:chOff x="0" y="0"/>
            <a:chExt cx="1265827" cy="1937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5827" cy="193782"/>
            </a:xfrm>
            <a:custGeom>
              <a:avLst/>
              <a:gdLst/>
              <a:ahLst/>
              <a:cxnLst/>
              <a:rect l="l" t="t" r="r" b="b"/>
              <a:pathLst>
                <a:path w="1265827" h="193782">
                  <a:moveTo>
                    <a:pt x="40344" y="0"/>
                  </a:moveTo>
                  <a:lnTo>
                    <a:pt x="1225483" y="0"/>
                  </a:lnTo>
                  <a:cubicBezTo>
                    <a:pt x="1247765" y="0"/>
                    <a:pt x="1265827" y="18063"/>
                    <a:pt x="1265827" y="40344"/>
                  </a:cubicBezTo>
                  <a:lnTo>
                    <a:pt x="1265827" y="153438"/>
                  </a:lnTo>
                  <a:cubicBezTo>
                    <a:pt x="1265827" y="164138"/>
                    <a:pt x="1261577" y="174399"/>
                    <a:pt x="1254011" y="181965"/>
                  </a:cubicBezTo>
                  <a:cubicBezTo>
                    <a:pt x="1246445" y="189531"/>
                    <a:pt x="1236183" y="193782"/>
                    <a:pt x="1225483" y="193782"/>
                  </a:cubicBezTo>
                  <a:lnTo>
                    <a:pt x="40344" y="193782"/>
                  </a:lnTo>
                  <a:cubicBezTo>
                    <a:pt x="29644" y="193782"/>
                    <a:pt x="19382" y="189531"/>
                    <a:pt x="11817" y="181965"/>
                  </a:cubicBezTo>
                  <a:cubicBezTo>
                    <a:pt x="4251" y="174399"/>
                    <a:pt x="0" y="164138"/>
                    <a:pt x="0" y="153438"/>
                  </a:cubicBezTo>
                  <a:lnTo>
                    <a:pt x="0" y="40344"/>
                  </a:lnTo>
                  <a:cubicBezTo>
                    <a:pt x="0" y="29644"/>
                    <a:pt x="4251" y="19382"/>
                    <a:pt x="11817" y="11817"/>
                  </a:cubicBezTo>
                  <a:cubicBezTo>
                    <a:pt x="19382" y="4251"/>
                    <a:pt x="29644" y="0"/>
                    <a:pt x="403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265827" cy="269982"/>
            </a:xfrm>
            <a:prstGeom prst="rect">
              <a:avLst/>
            </a:prstGeom>
          </p:spPr>
          <p:txBody>
            <a:bodyPr lIns="73888" tIns="73888" rIns="73888" bIns="73888" rtlCol="0" anchor="ctr"/>
            <a:lstStyle/>
            <a:p>
              <a:pPr algn="ctr">
                <a:lnSpc>
                  <a:spcPts val="7539"/>
                </a:lnSpc>
              </a:pPr>
              <a:r>
                <a:rPr lang="en-US" sz="57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Classification Report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541546" y="2518383"/>
            <a:ext cx="15204909" cy="7123103"/>
          </a:xfrm>
          <a:custGeom>
            <a:avLst/>
            <a:gdLst/>
            <a:ahLst/>
            <a:cxnLst/>
            <a:rect l="l" t="t" r="r" b="b"/>
            <a:pathLst>
              <a:path w="15204909" h="7123103">
                <a:moveTo>
                  <a:pt x="0" y="0"/>
                </a:moveTo>
                <a:lnTo>
                  <a:pt x="15204908" y="0"/>
                </a:lnTo>
                <a:lnTo>
                  <a:pt x="15204908" y="7123103"/>
                </a:lnTo>
                <a:lnTo>
                  <a:pt x="0" y="7123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0" r="-848" b="-107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190500"/>
            <a:ext cx="19240500" cy="1219200"/>
            <a:chOff x="0" y="0"/>
            <a:chExt cx="25654000" cy="16256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1528064"/>
              <a:chOff x="0" y="0"/>
              <a:chExt cx="5067457" cy="3018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301840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301840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301840"/>
                    </a:lnTo>
                    <a:lnTo>
                      <a:pt x="0" y="301840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320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1495552"/>
              <a:ext cx="25654000" cy="130048"/>
              <a:chOff x="0" y="0"/>
              <a:chExt cx="5067457" cy="256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25688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25688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25688"/>
                    </a:lnTo>
                    <a:lnTo>
                      <a:pt x="0" y="25688"/>
                    </a:lnTo>
                    <a:close/>
                  </a:path>
                </a:pathLst>
              </a:custGeom>
              <a:solidFill>
                <a:srgbClr val="FFC0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447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326681" y="419100"/>
            <a:ext cx="9786768" cy="1498228"/>
            <a:chOff x="0" y="0"/>
            <a:chExt cx="1265827" cy="1937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5827" cy="193782"/>
            </a:xfrm>
            <a:custGeom>
              <a:avLst/>
              <a:gdLst/>
              <a:ahLst/>
              <a:cxnLst/>
              <a:rect l="l" t="t" r="r" b="b"/>
              <a:pathLst>
                <a:path w="1265827" h="193782">
                  <a:moveTo>
                    <a:pt x="40344" y="0"/>
                  </a:moveTo>
                  <a:lnTo>
                    <a:pt x="1225483" y="0"/>
                  </a:lnTo>
                  <a:cubicBezTo>
                    <a:pt x="1247765" y="0"/>
                    <a:pt x="1265827" y="18063"/>
                    <a:pt x="1265827" y="40344"/>
                  </a:cubicBezTo>
                  <a:lnTo>
                    <a:pt x="1265827" y="153438"/>
                  </a:lnTo>
                  <a:cubicBezTo>
                    <a:pt x="1265827" y="164138"/>
                    <a:pt x="1261577" y="174399"/>
                    <a:pt x="1254011" y="181965"/>
                  </a:cubicBezTo>
                  <a:cubicBezTo>
                    <a:pt x="1246445" y="189531"/>
                    <a:pt x="1236183" y="193782"/>
                    <a:pt x="1225483" y="193782"/>
                  </a:cubicBezTo>
                  <a:lnTo>
                    <a:pt x="40344" y="193782"/>
                  </a:lnTo>
                  <a:cubicBezTo>
                    <a:pt x="29644" y="193782"/>
                    <a:pt x="19382" y="189531"/>
                    <a:pt x="11817" y="181965"/>
                  </a:cubicBezTo>
                  <a:cubicBezTo>
                    <a:pt x="4251" y="174399"/>
                    <a:pt x="0" y="164138"/>
                    <a:pt x="0" y="153438"/>
                  </a:cubicBezTo>
                  <a:lnTo>
                    <a:pt x="0" y="40344"/>
                  </a:lnTo>
                  <a:cubicBezTo>
                    <a:pt x="0" y="29644"/>
                    <a:pt x="4251" y="19382"/>
                    <a:pt x="11817" y="11817"/>
                  </a:cubicBezTo>
                  <a:cubicBezTo>
                    <a:pt x="19382" y="4251"/>
                    <a:pt x="29644" y="0"/>
                    <a:pt x="403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265827" cy="269982"/>
            </a:xfrm>
            <a:prstGeom prst="rect">
              <a:avLst/>
            </a:prstGeom>
          </p:spPr>
          <p:txBody>
            <a:bodyPr lIns="73888" tIns="73888" rIns="73888" bIns="73888" rtlCol="0" anchor="ctr"/>
            <a:lstStyle/>
            <a:p>
              <a:pPr algn="ctr">
                <a:lnSpc>
                  <a:spcPts val="7539"/>
                </a:lnSpc>
              </a:pPr>
              <a:r>
                <a:rPr lang="en-US" sz="57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Classification Report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326681" y="2257131"/>
            <a:ext cx="12308185" cy="7634191"/>
          </a:xfrm>
          <a:custGeom>
            <a:avLst/>
            <a:gdLst/>
            <a:ahLst/>
            <a:cxnLst/>
            <a:rect l="l" t="t" r="r" b="b"/>
            <a:pathLst>
              <a:path w="12308185" h="7634191">
                <a:moveTo>
                  <a:pt x="0" y="0"/>
                </a:moveTo>
                <a:lnTo>
                  <a:pt x="12308184" y="0"/>
                </a:lnTo>
                <a:lnTo>
                  <a:pt x="12308184" y="7634191"/>
                </a:lnTo>
                <a:lnTo>
                  <a:pt x="0" y="763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00208" y="2209506"/>
            <a:ext cx="3444121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Mean Accuracy: </a:t>
            </a:r>
          </a:p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0.97965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B5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939614"/>
            <a:ext cx="19240500" cy="2381250"/>
            <a:chOff x="0" y="0"/>
            <a:chExt cx="25654000" cy="3175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EBA38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501780" y="539310"/>
            <a:ext cx="11231336" cy="1304375"/>
            <a:chOff x="0" y="0"/>
            <a:chExt cx="1452669" cy="1687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2669" cy="168709"/>
            </a:xfrm>
            <a:custGeom>
              <a:avLst/>
              <a:gdLst/>
              <a:ahLst/>
              <a:cxnLst/>
              <a:rect l="l" t="t" r="r" b="b"/>
              <a:pathLst>
                <a:path w="1452669" h="168709">
                  <a:moveTo>
                    <a:pt x="35155" y="0"/>
                  </a:moveTo>
                  <a:lnTo>
                    <a:pt x="1417514" y="0"/>
                  </a:lnTo>
                  <a:cubicBezTo>
                    <a:pt x="1426837" y="0"/>
                    <a:pt x="1435779" y="3704"/>
                    <a:pt x="1442372" y="10297"/>
                  </a:cubicBezTo>
                  <a:cubicBezTo>
                    <a:pt x="1448965" y="16890"/>
                    <a:pt x="1452669" y="25831"/>
                    <a:pt x="1452669" y="35155"/>
                  </a:cubicBezTo>
                  <a:lnTo>
                    <a:pt x="1452669" y="133554"/>
                  </a:lnTo>
                  <a:cubicBezTo>
                    <a:pt x="1452669" y="152969"/>
                    <a:pt x="1436929" y="168709"/>
                    <a:pt x="1417514" y="168709"/>
                  </a:cubicBezTo>
                  <a:lnTo>
                    <a:pt x="35155" y="168709"/>
                  </a:lnTo>
                  <a:cubicBezTo>
                    <a:pt x="15739" y="168709"/>
                    <a:pt x="0" y="152969"/>
                    <a:pt x="0" y="133554"/>
                  </a:cubicBezTo>
                  <a:lnTo>
                    <a:pt x="0" y="35155"/>
                  </a:lnTo>
                  <a:cubicBezTo>
                    <a:pt x="0" y="15739"/>
                    <a:pt x="15739" y="0"/>
                    <a:pt x="3515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452669" cy="244909"/>
            </a:xfrm>
            <a:prstGeom prst="rect">
              <a:avLst/>
            </a:prstGeom>
          </p:spPr>
          <p:txBody>
            <a:bodyPr lIns="73888" tIns="73888" rIns="73888" bIns="73888" rtlCol="0" anchor="ctr"/>
            <a:lstStyle/>
            <a:p>
              <a:pPr algn="ctr">
                <a:lnSpc>
                  <a:spcPts val="7539"/>
                </a:lnSpc>
              </a:pPr>
              <a:r>
                <a:rPr lang="en-US" sz="57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Confusion Matrix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2368833"/>
            <a:ext cx="7967880" cy="7174145"/>
          </a:xfrm>
          <a:custGeom>
            <a:avLst/>
            <a:gdLst/>
            <a:ahLst/>
            <a:cxnLst/>
            <a:rect l="l" t="t" r="r" b="b"/>
            <a:pathLst>
              <a:path w="7967880" h="7174145">
                <a:moveTo>
                  <a:pt x="0" y="0"/>
                </a:moveTo>
                <a:lnTo>
                  <a:pt x="7967880" y="0"/>
                </a:lnTo>
                <a:lnTo>
                  <a:pt x="7967880" y="7174145"/>
                </a:lnTo>
                <a:lnTo>
                  <a:pt x="0" y="7174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809536" y="3228116"/>
            <a:ext cx="7898361" cy="571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8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Very Few Misclassifications</a:t>
            </a:r>
          </a:p>
          <a:p>
            <a:pPr algn="l">
              <a:lnSpc>
                <a:spcPts val="3769"/>
              </a:lnSpc>
            </a:pPr>
            <a:endParaRPr lang="en-US" sz="2899" b="1">
              <a:solidFill>
                <a:srgbClr val="000000"/>
              </a:solidFill>
              <a:latin typeface="Klein Bold"/>
              <a:ea typeface="Klein Bold"/>
              <a:cs typeface="Klein Bold"/>
              <a:sym typeface="Klein Bold"/>
            </a:endParaRPr>
          </a:p>
          <a:p>
            <a:pPr marL="626106" lvl="1" indent="-313053" algn="l">
              <a:lnSpc>
                <a:spcPts val="376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Minimal errors, indicating excellent class separation by the SVM model.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626106" lvl="1" indent="-313053" algn="l">
              <a:lnSpc>
                <a:spcPts val="376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Off-diagonal values: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marL="1252211" lvl="2" indent="-417404" algn="l">
              <a:lnSpc>
                <a:spcPts val="3769"/>
              </a:lnSpc>
              <a:spcBef>
                <a:spcPct val="0"/>
              </a:spcBef>
              <a:buFont typeface="Arial"/>
              <a:buChar char="⚬"/>
            </a:pPr>
            <a:r>
              <a:rPr lang="en-US" sz="28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60 High were predicted as Medium.</a:t>
            </a:r>
          </a:p>
          <a:p>
            <a:pPr marL="1252211" lvl="2" indent="-417404" algn="l">
              <a:lnSpc>
                <a:spcPts val="3769"/>
              </a:lnSpc>
              <a:spcBef>
                <a:spcPct val="0"/>
              </a:spcBef>
              <a:buFont typeface="Arial"/>
              <a:buChar char="⚬"/>
            </a:pPr>
            <a:r>
              <a:rPr lang="en-US" sz="28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44 Low were predicted as Medium.</a:t>
            </a:r>
          </a:p>
          <a:p>
            <a:pPr marL="1252211" lvl="2" indent="-417404" algn="l">
              <a:lnSpc>
                <a:spcPts val="3769"/>
              </a:lnSpc>
              <a:spcBef>
                <a:spcPct val="0"/>
              </a:spcBef>
              <a:buFont typeface="Arial"/>
              <a:buChar char="⚬"/>
            </a:pPr>
            <a:r>
              <a:rPr lang="en-US" sz="28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43 Medium were predicted as High.</a:t>
            </a:r>
          </a:p>
          <a:p>
            <a:pPr marL="1252211" lvl="2" indent="-417404" algn="l">
              <a:lnSpc>
                <a:spcPts val="3769"/>
              </a:lnSpc>
              <a:spcBef>
                <a:spcPct val="0"/>
              </a:spcBef>
              <a:buFont typeface="Arial"/>
              <a:buChar char="⚬"/>
            </a:pPr>
            <a:r>
              <a:rPr lang="en-US" sz="28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44 Medium were predicted as Low.</a:t>
            </a:r>
          </a:p>
          <a:p>
            <a:pPr algn="l">
              <a:lnSpc>
                <a:spcPts val="376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B5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940332"/>
            <a:ext cx="19240500" cy="2381250"/>
            <a:chOff x="0" y="0"/>
            <a:chExt cx="25654000" cy="3175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EBA38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381000" y="-201057"/>
            <a:ext cx="11299729" cy="1893516"/>
            <a:chOff x="0" y="-76200"/>
            <a:chExt cx="1461515" cy="244909"/>
          </a:xfrm>
        </p:grpSpPr>
        <p:sp>
          <p:nvSpPr>
            <p:cNvPr id="10" name="Freeform 10"/>
            <p:cNvSpPr/>
            <p:nvPr/>
          </p:nvSpPr>
          <p:spPr>
            <a:xfrm>
              <a:off x="8846" y="-26419"/>
              <a:ext cx="1452669" cy="168709"/>
            </a:xfrm>
            <a:custGeom>
              <a:avLst/>
              <a:gdLst/>
              <a:ahLst/>
              <a:cxnLst/>
              <a:rect l="l" t="t" r="r" b="b"/>
              <a:pathLst>
                <a:path w="1452669" h="168709">
                  <a:moveTo>
                    <a:pt x="35155" y="0"/>
                  </a:moveTo>
                  <a:lnTo>
                    <a:pt x="1417514" y="0"/>
                  </a:lnTo>
                  <a:cubicBezTo>
                    <a:pt x="1426837" y="0"/>
                    <a:pt x="1435779" y="3704"/>
                    <a:pt x="1442372" y="10297"/>
                  </a:cubicBezTo>
                  <a:cubicBezTo>
                    <a:pt x="1448965" y="16890"/>
                    <a:pt x="1452669" y="25831"/>
                    <a:pt x="1452669" y="35155"/>
                  </a:cubicBezTo>
                  <a:lnTo>
                    <a:pt x="1452669" y="133554"/>
                  </a:lnTo>
                  <a:cubicBezTo>
                    <a:pt x="1452669" y="152969"/>
                    <a:pt x="1436929" y="168709"/>
                    <a:pt x="1417514" y="168709"/>
                  </a:cubicBezTo>
                  <a:lnTo>
                    <a:pt x="35155" y="168709"/>
                  </a:lnTo>
                  <a:cubicBezTo>
                    <a:pt x="15739" y="168709"/>
                    <a:pt x="0" y="152969"/>
                    <a:pt x="0" y="133554"/>
                  </a:cubicBezTo>
                  <a:lnTo>
                    <a:pt x="0" y="35155"/>
                  </a:lnTo>
                  <a:cubicBezTo>
                    <a:pt x="0" y="15739"/>
                    <a:pt x="15739" y="0"/>
                    <a:pt x="3515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452669" cy="244909"/>
            </a:xfrm>
            <a:prstGeom prst="rect">
              <a:avLst/>
            </a:prstGeom>
          </p:spPr>
          <p:txBody>
            <a:bodyPr lIns="73888" tIns="73888" rIns="73888" bIns="73888" rtlCol="0" anchor="ctr"/>
            <a:lstStyle/>
            <a:p>
              <a:pPr algn="ctr">
                <a:lnSpc>
                  <a:spcPts val="7539"/>
                </a:lnSpc>
              </a:pPr>
              <a:r>
                <a:rPr lang="en-US" sz="5799" b="1" dirty="0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Cross-Validation Report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501780" y="3753035"/>
            <a:ext cx="11910327" cy="5493693"/>
          </a:xfrm>
          <a:custGeom>
            <a:avLst/>
            <a:gdLst/>
            <a:ahLst/>
            <a:cxnLst/>
            <a:rect l="l" t="t" r="r" b="b"/>
            <a:pathLst>
              <a:path w="11910327" h="5493693">
                <a:moveTo>
                  <a:pt x="0" y="0"/>
                </a:moveTo>
                <a:lnTo>
                  <a:pt x="11910327" y="0"/>
                </a:lnTo>
                <a:lnTo>
                  <a:pt x="11910327" y="5493693"/>
                </a:lnTo>
                <a:lnTo>
                  <a:pt x="0" y="5493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7492" y="1473535"/>
            <a:ext cx="11245624" cy="1736576"/>
            <a:chOff x="-1848" y="-66675"/>
            <a:chExt cx="1454517" cy="224610"/>
          </a:xfrm>
        </p:grpSpPr>
        <p:sp>
          <p:nvSpPr>
            <p:cNvPr id="14" name="Freeform 14"/>
            <p:cNvSpPr/>
            <p:nvPr/>
          </p:nvSpPr>
          <p:spPr>
            <a:xfrm>
              <a:off x="-1848" y="-17822"/>
              <a:ext cx="1452669" cy="157935"/>
            </a:xfrm>
            <a:custGeom>
              <a:avLst/>
              <a:gdLst/>
              <a:ahLst/>
              <a:cxnLst/>
              <a:rect l="l" t="t" r="r" b="b"/>
              <a:pathLst>
                <a:path w="1452669" h="157935">
                  <a:moveTo>
                    <a:pt x="35155" y="0"/>
                  </a:moveTo>
                  <a:lnTo>
                    <a:pt x="1417514" y="0"/>
                  </a:lnTo>
                  <a:cubicBezTo>
                    <a:pt x="1426837" y="0"/>
                    <a:pt x="1435779" y="3704"/>
                    <a:pt x="1442372" y="10297"/>
                  </a:cubicBezTo>
                  <a:cubicBezTo>
                    <a:pt x="1448965" y="16890"/>
                    <a:pt x="1452669" y="25831"/>
                    <a:pt x="1452669" y="35155"/>
                  </a:cubicBezTo>
                  <a:lnTo>
                    <a:pt x="1452669" y="122780"/>
                  </a:lnTo>
                  <a:cubicBezTo>
                    <a:pt x="1452669" y="142195"/>
                    <a:pt x="1436929" y="157935"/>
                    <a:pt x="1417514" y="157935"/>
                  </a:cubicBezTo>
                  <a:lnTo>
                    <a:pt x="35155" y="157935"/>
                  </a:lnTo>
                  <a:cubicBezTo>
                    <a:pt x="15739" y="157935"/>
                    <a:pt x="0" y="142195"/>
                    <a:pt x="0" y="122780"/>
                  </a:cubicBezTo>
                  <a:lnTo>
                    <a:pt x="0" y="35155"/>
                  </a:lnTo>
                  <a:cubicBezTo>
                    <a:pt x="0" y="15739"/>
                    <a:pt x="15739" y="0"/>
                    <a:pt x="3515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452669" cy="224610"/>
            </a:xfrm>
            <a:prstGeom prst="rect">
              <a:avLst/>
            </a:prstGeom>
          </p:spPr>
          <p:txBody>
            <a:bodyPr lIns="73888" tIns="73888" rIns="73888" bIns="73888" rtlCol="0" anchor="ctr"/>
            <a:lstStyle/>
            <a:p>
              <a:pPr algn="ctr">
                <a:lnSpc>
                  <a:spcPts val="7019"/>
                </a:lnSpc>
              </a:pPr>
              <a:r>
                <a:rPr lang="en-US" sz="5399" b="1" dirty="0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Stratified K- Fold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223200" y="3705410"/>
            <a:ext cx="3731300" cy="1164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Mean Accuracy:</a:t>
            </a:r>
          </a:p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0.97965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B5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939614"/>
            <a:ext cx="19240500" cy="2381250"/>
            <a:chOff x="0" y="0"/>
            <a:chExt cx="25654000" cy="3175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EBA38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479892" y="32446"/>
            <a:ext cx="14011033" cy="1893516"/>
            <a:chOff x="0" y="-76200"/>
            <a:chExt cx="1812197" cy="244909"/>
          </a:xfrm>
        </p:grpSpPr>
        <p:sp>
          <p:nvSpPr>
            <p:cNvPr id="10" name="Freeform 10"/>
            <p:cNvSpPr/>
            <p:nvPr/>
          </p:nvSpPr>
          <p:spPr>
            <a:xfrm>
              <a:off x="0" y="-38100"/>
              <a:ext cx="1812197" cy="168709"/>
            </a:xfrm>
            <a:custGeom>
              <a:avLst/>
              <a:gdLst/>
              <a:ahLst/>
              <a:cxnLst/>
              <a:rect l="l" t="t" r="r" b="b"/>
              <a:pathLst>
                <a:path w="1812197" h="168709">
                  <a:moveTo>
                    <a:pt x="28181" y="0"/>
                  </a:moveTo>
                  <a:lnTo>
                    <a:pt x="1784016" y="0"/>
                  </a:lnTo>
                  <a:cubicBezTo>
                    <a:pt x="1791490" y="0"/>
                    <a:pt x="1798658" y="2969"/>
                    <a:pt x="1803943" y="8254"/>
                  </a:cubicBezTo>
                  <a:cubicBezTo>
                    <a:pt x="1809228" y="13539"/>
                    <a:pt x="1812197" y="20707"/>
                    <a:pt x="1812197" y="28181"/>
                  </a:cubicBezTo>
                  <a:lnTo>
                    <a:pt x="1812197" y="140528"/>
                  </a:lnTo>
                  <a:cubicBezTo>
                    <a:pt x="1812197" y="148002"/>
                    <a:pt x="1809228" y="155170"/>
                    <a:pt x="1803943" y="160455"/>
                  </a:cubicBezTo>
                  <a:cubicBezTo>
                    <a:pt x="1798658" y="165740"/>
                    <a:pt x="1791490" y="168709"/>
                    <a:pt x="1784016" y="168709"/>
                  </a:cubicBezTo>
                  <a:lnTo>
                    <a:pt x="28181" y="168709"/>
                  </a:lnTo>
                  <a:cubicBezTo>
                    <a:pt x="20707" y="168709"/>
                    <a:pt x="13539" y="165740"/>
                    <a:pt x="8254" y="160455"/>
                  </a:cubicBezTo>
                  <a:cubicBezTo>
                    <a:pt x="2969" y="155170"/>
                    <a:pt x="0" y="148002"/>
                    <a:pt x="0" y="140528"/>
                  </a:cubicBezTo>
                  <a:lnTo>
                    <a:pt x="0" y="28181"/>
                  </a:lnTo>
                  <a:cubicBezTo>
                    <a:pt x="0" y="20707"/>
                    <a:pt x="2969" y="13539"/>
                    <a:pt x="8254" y="8254"/>
                  </a:cubicBezTo>
                  <a:cubicBezTo>
                    <a:pt x="13539" y="2969"/>
                    <a:pt x="20707" y="0"/>
                    <a:pt x="281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812197" cy="244909"/>
            </a:xfrm>
            <a:prstGeom prst="rect">
              <a:avLst/>
            </a:prstGeom>
          </p:spPr>
          <p:txBody>
            <a:bodyPr lIns="73888" tIns="73888" rIns="73888" bIns="73888" rtlCol="0" anchor="ctr"/>
            <a:lstStyle/>
            <a:p>
              <a:pPr algn="ctr">
                <a:lnSpc>
                  <a:spcPts val="7539"/>
                </a:lnSpc>
              </a:pPr>
              <a:r>
                <a:rPr lang="en-US" sz="5799" b="1" dirty="0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Cross-Validation Confusion Matrix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2368833"/>
            <a:ext cx="8286839" cy="7334867"/>
          </a:xfrm>
          <a:custGeom>
            <a:avLst/>
            <a:gdLst/>
            <a:ahLst/>
            <a:cxnLst/>
            <a:rect l="l" t="t" r="r" b="b"/>
            <a:pathLst>
              <a:path w="8286839" h="7334867">
                <a:moveTo>
                  <a:pt x="0" y="0"/>
                </a:moveTo>
                <a:lnTo>
                  <a:pt x="8286839" y="0"/>
                </a:lnTo>
                <a:lnTo>
                  <a:pt x="8286839" y="7334868"/>
                </a:lnTo>
                <a:lnTo>
                  <a:pt x="0" y="7334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884611" y="2385960"/>
            <a:ext cx="7571675" cy="73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High Correct Classification Across All Classes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High → High: 12,563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Low → Low: 13,133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Medium → Medium: 13,490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Indicates strong and consistent model performance across all folds.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Minimal Misclassifications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Slight confusion between Medium and High (188) and Medium and Low (160).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High and Low have zero misclassification with each other — shows SVM effectively separates extreme categories.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grpSp>
        <p:nvGrpSpPr>
          <p:cNvPr id="14" name="Group 6">
            <a:extLst>
              <a:ext uri="{FF2B5EF4-FFF2-40B4-BE49-F238E27FC236}">
                <a16:creationId xmlns:a16="http://schemas.microsoft.com/office/drawing/2014/main" id="{36E00DCE-E360-B11E-84AA-25B4583ED5AB}"/>
              </a:ext>
            </a:extLst>
          </p:cNvPr>
          <p:cNvGrpSpPr/>
          <p:nvPr/>
        </p:nvGrpSpPr>
        <p:grpSpPr>
          <a:xfrm>
            <a:off x="-476250" y="10648024"/>
            <a:ext cx="20006488" cy="2891773"/>
            <a:chOff x="0" y="0"/>
            <a:chExt cx="26675317" cy="3855697"/>
          </a:xfrm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0EAA36B-E2BF-B6D8-28F6-6391207E80C9}"/>
                </a:ext>
              </a:extLst>
            </p:cNvPr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DCFBB769-54FB-22EE-2B7F-C49BAB09F7A4}"/>
                </a:ext>
              </a:extLst>
            </p:cNvPr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E9AB7D0-0989-DE56-0052-54D73F19475A}"/>
                </a:ext>
              </a:extLst>
            </p:cNvPr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3B69E15-1820-6E7C-F0CE-AB14137D5773}"/>
                </a:ext>
              </a:extLst>
            </p:cNvPr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F020807F-94D4-FDBF-C67F-88C7A020DE75}"/>
                  </a:ext>
                </a:extLst>
              </p:cNvPr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9A3D3DFD-BDF7-45B1-E0BA-A2C7BDDF3DF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21" name="Group 2">
            <a:extLst>
              <a:ext uri="{FF2B5EF4-FFF2-40B4-BE49-F238E27FC236}">
                <a16:creationId xmlns:a16="http://schemas.microsoft.com/office/drawing/2014/main" id="{EE0640F8-9654-3EA5-7191-BB53D16292DB}"/>
              </a:ext>
            </a:extLst>
          </p:cNvPr>
          <p:cNvGrpSpPr/>
          <p:nvPr/>
        </p:nvGrpSpPr>
        <p:grpSpPr>
          <a:xfrm>
            <a:off x="19684106" y="-5688595"/>
            <a:ext cx="7620000" cy="7620000"/>
            <a:chOff x="0" y="0"/>
            <a:chExt cx="812800" cy="81280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DE19D1BF-1CF3-019D-DD5D-CA1D3663A9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CC1821F3-8B90-6354-2A97-6A5F28D5A0D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0" y="762000"/>
            <a:ext cx="7620000" cy="76200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1198153" y="2112212"/>
            <a:ext cx="5448300" cy="7491412"/>
          </a:xfrm>
          <a:custGeom>
            <a:avLst/>
            <a:gdLst/>
            <a:ahLst/>
            <a:cxnLst/>
            <a:rect l="l" t="t" r="r" b="b"/>
            <a:pathLst>
              <a:path w="5448300" h="7491412">
                <a:moveTo>
                  <a:pt x="5448300" y="0"/>
                </a:moveTo>
                <a:lnTo>
                  <a:pt x="0" y="0"/>
                </a:lnTo>
                <a:lnTo>
                  <a:pt x="0" y="7491413"/>
                </a:lnTo>
                <a:lnTo>
                  <a:pt x="5448300" y="7491413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-859244" y="8799510"/>
            <a:ext cx="20006488" cy="2891773"/>
            <a:chOff x="0" y="0"/>
            <a:chExt cx="26675317" cy="3855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-695355" y="2952750"/>
            <a:ext cx="10058400" cy="4533900"/>
            <a:chOff x="0" y="0"/>
            <a:chExt cx="13411200" cy="6045200"/>
          </a:xfrm>
        </p:grpSpPr>
        <p:grpSp>
          <p:nvGrpSpPr>
            <p:cNvPr id="14" name="Group 14"/>
            <p:cNvGrpSpPr/>
            <p:nvPr/>
          </p:nvGrpSpPr>
          <p:grpSpPr>
            <a:xfrm>
              <a:off x="203200" y="203200"/>
              <a:ext cx="13208000" cy="5842000"/>
              <a:chOff x="0" y="0"/>
              <a:chExt cx="2608988" cy="11539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608988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2608988" h="1153975">
                    <a:moveTo>
                      <a:pt x="39858" y="0"/>
                    </a:moveTo>
                    <a:lnTo>
                      <a:pt x="2569129" y="0"/>
                    </a:lnTo>
                    <a:cubicBezTo>
                      <a:pt x="2591142" y="0"/>
                      <a:pt x="2608988" y="17845"/>
                      <a:pt x="2608988" y="39858"/>
                    </a:cubicBezTo>
                    <a:lnTo>
                      <a:pt x="2608988" y="1114117"/>
                    </a:lnTo>
                    <a:cubicBezTo>
                      <a:pt x="2608988" y="1136130"/>
                      <a:pt x="2591142" y="1153975"/>
                      <a:pt x="2569129" y="1153975"/>
                    </a:cubicBezTo>
                    <a:lnTo>
                      <a:pt x="39858" y="1153975"/>
                    </a:lnTo>
                    <a:cubicBezTo>
                      <a:pt x="17845" y="1153975"/>
                      <a:pt x="0" y="1136130"/>
                      <a:pt x="0" y="1114117"/>
                    </a:cubicBezTo>
                    <a:lnTo>
                      <a:pt x="0" y="39858"/>
                    </a:lnTo>
                    <a:cubicBezTo>
                      <a:pt x="0" y="17845"/>
                      <a:pt x="17845" y="0"/>
                      <a:pt x="39858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608988" cy="1192075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3208000" cy="5842000"/>
              <a:chOff x="0" y="0"/>
              <a:chExt cx="2608988" cy="1153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608988" cy="1153975"/>
              </a:xfrm>
              <a:custGeom>
                <a:avLst/>
                <a:gdLst/>
                <a:ahLst/>
                <a:cxnLst/>
                <a:rect l="l" t="t" r="r" b="b"/>
                <a:pathLst>
                  <a:path w="2608988" h="1153975">
                    <a:moveTo>
                      <a:pt x="39858" y="0"/>
                    </a:moveTo>
                    <a:lnTo>
                      <a:pt x="2569129" y="0"/>
                    </a:lnTo>
                    <a:cubicBezTo>
                      <a:pt x="2591142" y="0"/>
                      <a:pt x="2608988" y="17845"/>
                      <a:pt x="2608988" y="39858"/>
                    </a:cubicBezTo>
                    <a:lnTo>
                      <a:pt x="2608988" y="1114117"/>
                    </a:lnTo>
                    <a:cubicBezTo>
                      <a:pt x="2608988" y="1136130"/>
                      <a:pt x="2591142" y="1153975"/>
                      <a:pt x="2569129" y="1153975"/>
                    </a:cubicBezTo>
                    <a:lnTo>
                      <a:pt x="39858" y="1153975"/>
                    </a:lnTo>
                    <a:cubicBezTo>
                      <a:pt x="17845" y="1153975"/>
                      <a:pt x="0" y="1136130"/>
                      <a:pt x="0" y="1114117"/>
                    </a:cubicBezTo>
                    <a:lnTo>
                      <a:pt x="0" y="39858"/>
                    </a:lnTo>
                    <a:cubicBezTo>
                      <a:pt x="0" y="17845"/>
                      <a:pt x="17845" y="0"/>
                      <a:pt x="398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2608988" cy="1182550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048000" y="1067859"/>
              <a:ext cx="8890000" cy="3792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999"/>
                </a:lnSpc>
                <a:spcBef>
                  <a:spcPct val="0"/>
                </a:spcBef>
              </a:pPr>
              <a:r>
                <a:rPr lang="en-US" sz="9999" b="1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Random forest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9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190500"/>
            <a:ext cx="19240500" cy="2381250"/>
            <a:chOff x="0" y="0"/>
            <a:chExt cx="25654000" cy="3175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CC7E3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463170" y="228762"/>
            <a:ext cx="6942598" cy="1599877"/>
            <a:chOff x="0" y="0"/>
            <a:chExt cx="9256797" cy="2133169"/>
          </a:xfrm>
        </p:grpSpPr>
        <p:grpSp>
          <p:nvGrpSpPr>
            <p:cNvPr id="10" name="Group 10"/>
            <p:cNvGrpSpPr/>
            <p:nvPr/>
          </p:nvGrpSpPr>
          <p:grpSpPr>
            <a:xfrm>
              <a:off x="123837" y="355528"/>
              <a:ext cx="9132960" cy="1777641"/>
              <a:chOff x="0" y="0"/>
              <a:chExt cx="736492" cy="1433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36492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736492" h="143351">
                    <a:moveTo>
                      <a:pt x="71675" y="0"/>
                    </a:moveTo>
                    <a:lnTo>
                      <a:pt x="664817" y="0"/>
                    </a:lnTo>
                    <a:cubicBezTo>
                      <a:pt x="683826" y="0"/>
                      <a:pt x="702057" y="7552"/>
                      <a:pt x="715499" y="20993"/>
                    </a:cubicBezTo>
                    <a:cubicBezTo>
                      <a:pt x="728941" y="34435"/>
                      <a:pt x="736492" y="52666"/>
                      <a:pt x="736492" y="71675"/>
                    </a:cubicBezTo>
                    <a:lnTo>
                      <a:pt x="736492" y="71675"/>
                    </a:lnTo>
                    <a:cubicBezTo>
                      <a:pt x="736492" y="90685"/>
                      <a:pt x="728941" y="108916"/>
                      <a:pt x="715499" y="122358"/>
                    </a:cubicBezTo>
                    <a:cubicBezTo>
                      <a:pt x="702057" y="135799"/>
                      <a:pt x="683826" y="143351"/>
                      <a:pt x="664817" y="143351"/>
                    </a:cubicBezTo>
                    <a:lnTo>
                      <a:pt x="71675" y="143351"/>
                    </a:lnTo>
                    <a:cubicBezTo>
                      <a:pt x="52666" y="143351"/>
                      <a:pt x="34435" y="135799"/>
                      <a:pt x="20993" y="122358"/>
                    </a:cubicBezTo>
                    <a:cubicBezTo>
                      <a:pt x="7552" y="108916"/>
                      <a:pt x="0" y="90685"/>
                      <a:pt x="0" y="71675"/>
                    </a:cubicBezTo>
                    <a:lnTo>
                      <a:pt x="0" y="71675"/>
                    </a:lnTo>
                    <a:cubicBezTo>
                      <a:pt x="0" y="52666"/>
                      <a:pt x="7552" y="34435"/>
                      <a:pt x="20993" y="20993"/>
                    </a:cubicBezTo>
                    <a:cubicBezTo>
                      <a:pt x="34435" y="7552"/>
                      <a:pt x="52666" y="0"/>
                      <a:pt x="71675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736492" cy="1624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9132960" cy="1777641"/>
              <a:chOff x="0" y="0"/>
              <a:chExt cx="736492" cy="1433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36492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736492" h="143351">
                    <a:moveTo>
                      <a:pt x="71675" y="0"/>
                    </a:moveTo>
                    <a:lnTo>
                      <a:pt x="664817" y="0"/>
                    </a:lnTo>
                    <a:cubicBezTo>
                      <a:pt x="683826" y="0"/>
                      <a:pt x="702057" y="7552"/>
                      <a:pt x="715499" y="20993"/>
                    </a:cubicBezTo>
                    <a:cubicBezTo>
                      <a:pt x="728941" y="34435"/>
                      <a:pt x="736492" y="52666"/>
                      <a:pt x="736492" y="71675"/>
                    </a:cubicBezTo>
                    <a:lnTo>
                      <a:pt x="736492" y="71675"/>
                    </a:lnTo>
                    <a:cubicBezTo>
                      <a:pt x="736492" y="90685"/>
                      <a:pt x="728941" y="108916"/>
                      <a:pt x="715499" y="122358"/>
                    </a:cubicBezTo>
                    <a:cubicBezTo>
                      <a:pt x="702057" y="135799"/>
                      <a:pt x="683826" y="143351"/>
                      <a:pt x="664817" y="143351"/>
                    </a:cubicBezTo>
                    <a:lnTo>
                      <a:pt x="71675" y="143351"/>
                    </a:lnTo>
                    <a:cubicBezTo>
                      <a:pt x="52666" y="143351"/>
                      <a:pt x="34435" y="135799"/>
                      <a:pt x="20993" y="122358"/>
                    </a:cubicBezTo>
                    <a:cubicBezTo>
                      <a:pt x="7552" y="108916"/>
                      <a:pt x="0" y="90685"/>
                      <a:pt x="0" y="71675"/>
                    </a:cubicBezTo>
                    <a:lnTo>
                      <a:pt x="0" y="71675"/>
                    </a:lnTo>
                    <a:cubicBezTo>
                      <a:pt x="0" y="52666"/>
                      <a:pt x="7552" y="34435"/>
                      <a:pt x="20993" y="20993"/>
                    </a:cubicBezTo>
                    <a:cubicBezTo>
                      <a:pt x="34435" y="7552"/>
                      <a:pt x="52666" y="0"/>
                      <a:pt x="716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736492" cy="181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070"/>
                  </a:lnSpc>
                </a:pPr>
                <a:r>
                  <a:rPr lang="en-US" sz="3900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MODEL OVERVIEW</a:t>
                </a:r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33500" y="2595419"/>
            <a:ext cx="6629400" cy="3240568"/>
            <a:chOff x="0" y="0"/>
            <a:chExt cx="8839200" cy="4320757"/>
          </a:xfrm>
        </p:grpSpPr>
        <p:grpSp>
          <p:nvGrpSpPr>
            <p:cNvPr id="17" name="Group 17"/>
            <p:cNvGrpSpPr/>
            <p:nvPr/>
          </p:nvGrpSpPr>
          <p:grpSpPr>
            <a:xfrm>
              <a:off x="203200" y="201842"/>
              <a:ext cx="8636000" cy="3279935"/>
              <a:chOff x="0" y="0"/>
              <a:chExt cx="1218483" cy="46277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18483" cy="462777"/>
              </a:xfrm>
              <a:custGeom>
                <a:avLst/>
                <a:gdLst/>
                <a:ahLst/>
                <a:cxnLst/>
                <a:rect l="l" t="t" r="r" b="b"/>
                <a:pathLst>
                  <a:path w="1218483" h="462777">
                    <a:moveTo>
                      <a:pt x="59765" y="0"/>
                    </a:moveTo>
                    <a:lnTo>
                      <a:pt x="1158719" y="0"/>
                    </a:lnTo>
                    <a:cubicBezTo>
                      <a:pt x="1174569" y="0"/>
                      <a:pt x="1189771" y="6297"/>
                      <a:pt x="1200979" y="17505"/>
                    </a:cubicBezTo>
                    <a:cubicBezTo>
                      <a:pt x="1212187" y="28713"/>
                      <a:pt x="1218483" y="43914"/>
                      <a:pt x="1218483" y="59765"/>
                    </a:cubicBezTo>
                    <a:lnTo>
                      <a:pt x="1218483" y="403013"/>
                    </a:lnTo>
                    <a:cubicBezTo>
                      <a:pt x="1218483" y="418863"/>
                      <a:pt x="1212187" y="434065"/>
                      <a:pt x="1200979" y="445273"/>
                    </a:cubicBezTo>
                    <a:cubicBezTo>
                      <a:pt x="1189771" y="456481"/>
                      <a:pt x="1174569" y="462777"/>
                      <a:pt x="1158719" y="462777"/>
                    </a:cubicBezTo>
                    <a:lnTo>
                      <a:pt x="59765" y="462777"/>
                    </a:lnTo>
                    <a:cubicBezTo>
                      <a:pt x="43914" y="462777"/>
                      <a:pt x="28713" y="456481"/>
                      <a:pt x="17505" y="445273"/>
                    </a:cubicBezTo>
                    <a:cubicBezTo>
                      <a:pt x="6297" y="434065"/>
                      <a:pt x="0" y="418863"/>
                      <a:pt x="0" y="403013"/>
                    </a:cubicBezTo>
                    <a:lnTo>
                      <a:pt x="0" y="59765"/>
                    </a:lnTo>
                    <a:cubicBezTo>
                      <a:pt x="0" y="43914"/>
                      <a:pt x="6297" y="28713"/>
                      <a:pt x="17505" y="17505"/>
                    </a:cubicBezTo>
                    <a:cubicBezTo>
                      <a:pt x="28713" y="6297"/>
                      <a:pt x="43914" y="0"/>
                      <a:pt x="59765" y="0"/>
                    </a:cubicBezTo>
                    <a:close/>
                  </a:path>
                </a:pathLst>
              </a:custGeom>
              <a:solidFill>
                <a:srgbClr val="CC7E3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218483" cy="50087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8636000" cy="4320757"/>
              <a:chOff x="0" y="0"/>
              <a:chExt cx="1218483" cy="60963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18483" cy="609631"/>
              </a:xfrm>
              <a:custGeom>
                <a:avLst/>
                <a:gdLst/>
                <a:ahLst/>
                <a:cxnLst/>
                <a:rect l="l" t="t" r="r" b="b"/>
                <a:pathLst>
                  <a:path w="1218483" h="609631">
                    <a:moveTo>
                      <a:pt x="59765" y="0"/>
                    </a:moveTo>
                    <a:lnTo>
                      <a:pt x="1158719" y="0"/>
                    </a:lnTo>
                    <a:cubicBezTo>
                      <a:pt x="1174569" y="0"/>
                      <a:pt x="1189771" y="6297"/>
                      <a:pt x="1200979" y="17505"/>
                    </a:cubicBezTo>
                    <a:cubicBezTo>
                      <a:pt x="1212187" y="28713"/>
                      <a:pt x="1218483" y="43914"/>
                      <a:pt x="1218483" y="59765"/>
                    </a:cubicBezTo>
                    <a:lnTo>
                      <a:pt x="1218483" y="549866"/>
                    </a:lnTo>
                    <a:cubicBezTo>
                      <a:pt x="1218483" y="582873"/>
                      <a:pt x="1191726" y="609631"/>
                      <a:pt x="1158719" y="609631"/>
                    </a:cubicBezTo>
                    <a:lnTo>
                      <a:pt x="59765" y="609631"/>
                    </a:lnTo>
                    <a:cubicBezTo>
                      <a:pt x="43914" y="609631"/>
                      <a:pt x="28713" y="603334"/>
                      <a:pt x="17505" y="592126"/>
                    </a:cubicBezTo>
                    <a:cubicBezTo>
                      <a:pt x="6297" y="580918"/>
                      <a:pt x="0" y="565717"/>
                      <a:pt x="0" y="549866"/>
                    </a:cubicBezTo>
                    <a:lnTo>
                      <a:pt x="0" y="59765"/>
                    </a:lnTo>
                    <a:cubicBezTo>
                      <a:pt x="0" y="43914"/>
                      <a:pt x="6297" y="28713"/>
                      <a:pt x="17505" y="17505"/>
                    </a:cubicBezTo>
                    <a:cubicBezTo>
                      <a:pt x="28713" y="6297"/>
                      <a:pt x="43914" y="0"/>
                      <a:pt x="5976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218483" cy="64773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799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Random Forest algorithm, which is an ensemble method combining multiple decision trees to improve prediction accuracy and mitigate overfitting.</a:t>
                </a:r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1333500" y="6705600"/>
            <a:ext cx="6629400" cy="2628900"/>
            <a:chOff x="0" y="0"/>
            <a:chExt cx="8839200" cy="3505200"/>
          </a:xfrm>
        </p:grpSpPr>
        <p:grpSp>
          <p:nvGrpSpPr>
            <p:cNvPr id="24" name="Group 24"/>
            <p:cNvGrpSpPr/>
            <p:nvPr/>
          </p:nvGrpSpPr>
          <p:grpSpPr>
            <a:xfrm>
              <a:off x="203200" y="203200"/>
              <a:ext cx="8636000" cy="3302000"/>
              <a:chOff x="0" y="0"/>
              <a:chExt cx="1218483" cy="46589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18483" cy="465891"/>
              </a:xfrm>
              <a:custGeom>
                <a:avLst/>
                <a:gdLst/>
                <a:ahLst/>
                <a:cxnLst/>
                <a:rect l="l" t="t" r="r" b="b"/>
                <a:pathLst>
                  <a:path w="1218483" h="465891">
                    <a:moveTo>
                      <a:pt x="59765" y="0"/>
                    </a:moveTo>
                    <a:lnTo>
                      <a:pt x="1158719" y="0"/>
                    </a:lnTo>
                    <a:cubicBezTo>
                      <a:pt x="1174569" y="0"/>
                      <a:pt x="1189771" y="6297"/>
                      <a:pt x="1200979" y="17505"/>
                    </a:cubicBezTo>
                    <a:cubicBezTo>
                      <a:pt x="1212187" y="28713"/>
                      <a:pt x="1218483" y="43914"/>
                      <a:pt x="1218483" y="59765"/>
                    </a:cubicBezTo>
                    <a:lnTo>
                      <a:pt x="1218483" y="406126"/>
                    </a:lnTo>
                    <a:cubicBezTo>
                      <a:pt x="1218483" y="439133"/>
                      <a:pt x="1191726" y="465891"/>
                      <a:pt x="1158719" y="465891"/>
                    </a:cubicBezTo>
                    <a:lnTo>
                      <a:pt x="59765" y="465891"/>
                    </a:lnTo>
                    <a:cubicBezTo>
                      <a:pt x="43914" y="465891"/>
                      <a:pt x="28713" y="459594"/>
                      <a:pt x="17505" y="448386"/>
                    </a:cubicBezTo>
                    <a:cubicBezTo>
                      <a:pt x="6297" y="437178"/>
                      <a:pt x="0" y="421977"/>
                      <a:pt x="0" y="406126"/>
                    </a:cubicBezTo>
                    <a:lnTo>
                      <a:pt x="0" y="59765"/>
                    </a:lnTo>
                    <a:cubicBezTo>
                      <a:pt x="0" y="43914"/>
                      <a:pt x="6297" y="28713"/>
                      <a:pt x="17505" y="17505"/>
                    </a:cubicBezTo>
                    <a:cubicBezTo>
                      <a:pt x="28713" y="6297"/>
                      <a:pt x="43914" y="0"/>
                      <a:pt x="59765" y="0"/>
                    </a:cubicBezTo>
                    <a:close/>
                  </a:path>
                </a:pathLst>
              </a:custGeom>
              <a:solidFill>
                <a:srgbClr val="CC7E3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218483" cy="50399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8636000" cy="3302000"/>
              <a:chOff x="0" y="0"/>
              <a:chExt cx="1218483" cy="46589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18483" cy="465891"/>
              </a:xfrm>
              <a:custGeom>
                <a:avLst/>
                <a:gdLst/>
                <a:ahLst/>
                <a:cxnLst/>
                <a:rect l="l" t="t" r="r" b="b"/>
                <a:pathLst>
                  <a:path w="1218483" h="465891">
                    <a:moveTo>
                      <a:pt x="59765" y="0"/>
                    </a:moveTo>
                    <a:lnTo>
                      <a:pt x="1158719" y="0"/>
                    </a:lnTo>
                    <a:cubicBezTo>
                      <a:pt x="1174569" y="0"/>
                      <a:pt x="1189771" y="6297"/>
                      <a:pt x="1200979" y="17505"/>
                    </a:cubicBezTo>
                    <a:cubicBezTo>
                      <a:pt x="1212187" y="28713"/>
                      <a:pt x="1218483" y="43914"/>
                      <a:pt x="1218483" y="59765"/>
                    </a:cubicBezTo>
                    <a:lnTo>
                      <a:pt x="1218483" y="406126"/>
                    </a:lnTo>
                    <a:cubicBezTo>
                      <a:pt x="1218483" y="439133"/>
                      <a:pt x="1191726" y="465891"/>
                      <a:pt x="1158719" y="465891"/>
                    </a:cubicBezTo>
                    <a:lnTo>
                      <a:pt x="59765" y="465891"/>
                    </a:lnTo>
                    <a:cubicBezTo>
                      <a:pt x="43914" y="465891"/>
                      <a:pt x="28713" y="459594"/>
                      <a:pt x="17505" y="448386"/>
                    </a:cubicBezTo>
                    <a:cubicBezTo>
                      <a:pt x="6297" y="437178"/>
                      <a:pt x="0" y="421977"/>
                      <a:pt x="0" y="406126"/>
                    </a:cubicBezTo>
                    <a:lnTo>
                      <a:pt x="0" y="59765"/>
                    </a:lnTo>
                    <a:cubicBezTo>
                      <a:pt x="0" y="43914"/>
                      <a:pt x="6297" y="28713"/>
                      <a:pt x="17505" y="17505"/>
                    </a:cubicBezTo>
                    <a:cubicBezTo>
                      <a:pt x="28713" y="6297"/>
                      <a:pt x="43914" y="0"/>
                      <a:pt x="5976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218483" cy="50399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799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It utilizes cross-validation (K-Fold method) to assess performance and ensure generalization.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9563100" y="2595419"/>
            <a:ext cx="7696200" cy="3425800"/>
            <a:chOff x="0" y="0"/>
            <a:chExt cx="10261600" cy="4567733"/>
          </a:xfrm>
        </p:grpSpPr>
        <p:grpSp>
          <p:nvGrpSpPr>
            <p:cNvPr id="31" name="Group 31"/>
            <p:cNvGrpSpPr/>
            <p:nvPr/>
          </p:nvGrpSpPr>
          <p:grpSpPr>
            <a:xfrm>
              <a:off x="235899" y="264796"/>
              <a:ext cx="10025701" cy="4302937"/>
              <a:chOff x="0" y="0"/>
              <a:chExt cx="1143084" cy="49060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3084" cy="490601"/>
              </a:xfrm>
              <a:custGeom>
                <a:avLst/>
                <a:gdLst/>
                <a:ahLst/>
                <a:cxnLst/>
                <a:rect l="l" t="t" r="r" b="b"/>
                <a:pathLst>
                  <a:path w="1143084" h="490601">
                    <a:moveTo>
                      <a:pt x="63707" y="0"/>
                    </a:moveTo>
                    <a:lnTo>
                      <a:pt x="1079377" y="0"/>
                    </a:lnTo>
                    <a:cubicBezTo>
                      <a:pt x="1096273" y="0"/>
                      <a:pt x="1112477" y="6712"/>
                      <a:pt x="1124425" y="18659"/>
                    </a:cubicBezTo>
                    <a:cubicBezTo>
                      <a:pt x="1136372" y="30607"/>
                      <a:pt x="1143084" y="46811"/>
                      <a:pt x="1143084" y="63707"/>
                    </a:cubicBezTo>
                    <a:lnTo>
                      <a:pt x="1143084" y="426894"/>
                    </a:lnTo>
                    <a:cubicBezTo>
                      <a:pt x="1143084" y="462078"/>
                      <a:pt x="1114561" y="490601"/>
                      <a:pt x="1079377" y="490601"/>
                    </a:cubicBezTo>
                    <a:lnTo>
                      <a:pt x="63707" y="490601"/>
                    </a:lnTo>
                    <a:cubicBezTo>
                      <a:pt x="28523" y="490601"/>
                      <a:pt x="0" y="462078"/>
                      <a:pt x="0" y="426894"/>
                    </a:cubicBezTo>
                    <a:lnTo>
                      <a:pt x="0" y="63707"/>
                    </a:lnTo>
                    <a:cubicBezTo>
                      <a:pt x="0" y="28523"/>
                      <a:pt x="28523" y="0"/>
                      <a:pt x="63707" y="0"/>
                    </a:cubicBezTo>
                    <a:close/>
                  </a:path>
                </a:pathLst>
              </a:custGeom>
              <a:solidFill>
                <a:srgbClr val="CC7E3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43084" cy="52870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10025701" cy="4302937"/>
              <a:chOff x="0" y="0"/>
              <a:chExt cx="1143084" cy="49060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43084" cy="490601"/>
              </a:xfrm>
              <a:custGeom>
                <a:avLst/>
                <a:gdLst/>
                <a:ahLst/>
                <a:cxnLst/>
                <a:rect l="l" t="t" r="r" b="b"/>
                <a:pathLst>
                  <a:path w="1143084" h="490601">
                    <a:moveTo>
                      <a:pt x="63707" y="0"/>
                    </a:moveTo>
                    <a:lnTo>
                      <a:pt x="1079377" y="0"/>
                    </a:lnTo>
                    <a:cubicBezTo>
                      <a:pt x="1096273" y="0"/>
                      <a:pt x="1112477" y="6712"/>
                      <a:pt x="1124425" y="18659"/>
                    </a:cubicBezTo>
                    <a:cubicBezTo>
                      <a:pt x="1136372" y="30607"/>
                      <a:pt x="1143084" y="46811"/>
                      <a:pt x="1143084" y="63707"/>
                    </a:cubicBezTo>
                    <a:lnTo>
                      <a:pt x="1143084" y="426894"/>
                    </a:lnTo>
                    <a:cubicBezTo>
                      <a:pt x="1143084" y="462078"/>
                      <a:pt x="1114561" y="490601"/>
                      <a:pt x="1079377" y="490601"/>
                    </a:cubicBezTo>
                    <a:lnTo>
                      <a:pt x="63707" y="490601"/>
                    </a:lnTo>
                    <a:cubicBezTo>
                      <a:pt x="28523" y="490601"/>
                      <a:pt x="0" y="462078"/>
                      <a:pt x="0" y="426894"/>
                    </a:cubicBezTo>
                    <a:lnTo>
                      <a:pt x="0" y="63707"/>
                    </a:lnTo>
                    <a:cubicBezTo>
                      <a:pt x="0" y="28523"/>
                      <a:pt x="28523" y="0"/>
                      <a:pt x="6370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43084" cy="52870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799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Key performance metrics include Mean Squared Error (MSE), Mean Absolute Error (MAE), and R² Score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9734550" y="6705600"/>
            <a:ext cx="7524750" cy="2628900"/>
            <a:chOff x="0" y="0"/>
            <a:chExt cx="10033000" cy="3505200"/>
          </a:xfrm>
        </p:grpSpPr>
        <p:grpSp>
          <p:nvGrpSpPr>
            <p:cNvPr id="38" name="Group 38"/>
            <p:cNvGrpSpPr/>
            <p:nvPr/>
          </p:nvGrpSpPr>
          <p:grpSpPr>
            <a:xfrm>
              <a:off x="230644" y="203200"/>
              <a:ext cx="9802356" cy="3302000"/>
              <a:chOff x="0" y="0"/>
              <a:chExt cx="1218483" cy="41045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218483" cy="410456"/>
              </a:xfrm>
              <a:custGeom>
                <a:avLst/>
                <a:gdLst/>
                <a:ahLst/>
                <a:cxnLst/>
                <a:rect l="l" t="t" r="r" b="b"/>
                <a:pathLst>
                  <a:path w="1218483" h="410456">
                    <a:moveTo>
                      <a:pt x="59765" y="0"/>
                    </a:moveTo>
                    <a:lnTo>
                      <a:pt x="1158719" y="0"/>
                    </a:lnTo>
                    <a:cubicBezTo>
                      <a:pt x="1174569" y="0"/>
                      <a:pt x="1189771" y="6297"/>
                      <a:pt x="1200979" y="17505"/>
                    </a:cubicBezTo>
                    <a:cubicBezTo>
                      <a:pt x="1212187" y="28713"/>
                      <a:pt x="1218483" y="43914"/>
                      <a:pt x="1218483" y="59765"/>
                    </a:cubicBezTo>
                    <a:lnTo>
                      <a:pt x="1218483" y="350691"/>
                    </a:lnTo>
                    <a:cubicBezTo>
                      <a:pt x="1218483" y="366541"/>
                      <a:pt x="1212187" y="381743"/>
                      <a:pt x="1200979" y="392951"/>
                    </a:cubicBezTo>
                    <a:cubicBezTo>
                      <a:pt x="1189771" y="404159"/>
                      <a:pt x="1174569" y="410456"/>
                      <a:pt x="1158719" y="410456"/>
                    </a:cubicBezTo>
                    <a:lnTo>
                      <a:pt x="59765" y="410456"/>
                    </a:lnTo>
                    <a:cubicBezTo>
                      <a:pt x="43914" y="410456"/>
                      <a:pt x="28713" y="404159"/>
                      <a:pt x="17505" y="392951"/>
                    </a:cubicBezTo>
                    <a:cubicBezTo>
                      <a:pt x="6297" y="381743"/>
                      <a:pt x="0" y="366541"/>
                      <a:pt x="0" y="350691"/>
                    </a:cubicBezTo>
                    <a:lnTo>
                      <a:pt x="0" y="59765"/>
                    </a:lnTo>
                    <a:cubicBezTo>
                      <a:pt x="0" y="43914"/>
                      <a:pt x="6297" y="28713"/>
                      <a:pt x="17505" y="17505"/>
                    </a:cubicBezTo>
                    <a:cubicBezTo>
                      <a:pt x="28713" y="6297"/>
                      <a:pt x="43914" y="0"/>
                      <a:pt x="59765" y="0"/>
                    </a:cubicBezTo>
                    <a:close/>
                  </a:path>
                </a:pathLst>
              </a:custGeom>
              <a:solidFill>
                <a:srgbClr val="CC7E3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218483" cy="448556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0"/>
              <a:ext cx="9802356" cy="3302000"/>
              <a:chOff x="0" y="0"/>
              <a:chExt cx="1218483" cy="41045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218483" cy="410456"/>
              </a:xfrm>
              <a:custGeom>
                <a:avLst/>
                <a:gdLst/>
                <a:ahLst/>
                <a:cxnLst/>
                <a:rect l="l" t="t" r="r" b="b"/>
                <a:pathLst>
                  <a:path w="1218483" h="410456">
                    <a:moveTo>
                      <a:pt x="59765" y="0"/>
                    </a:moveTo>
                    <a:lnTo>
                      <a:pt x="1158719" y="0"/>
                    </a:lnTo>
                    <a:cubicBezTo>
                      <a:pt x="1174569" y="0"/>
                      <a:pt x="1189771" y="6297"/>
                      <a:pt x="1200979" y="17505"/>
                    </a:cubicBezTo>
                    <a:cubicBezTo>
                      <a:pt x="1212187" y="28713"/>
                      <a:pt x="1218483" y="43914"/>
                      <a:pt x="1218483" y="59765"/>
                    </a:cubicBezTo>
                    <a:lnTo>
                      <a:pt x="1218483" y="350691"/>
                    </a:lnTo>
                    <a:cubicBezTo>
                      <a:pt x="1218483" y="366541"/>
                      <a:pt x="1212187" y="381743"/>
                      <a:pt x="1200979" y="392951"/>
                    </a:cubicBezTo>
                    <a:cubicBezTo>
                      <a:pt x="1189771" y="404159"/>
                      <a:pt x="1174569" y="410456"/>
                      <a:pt x="1158719" y="410456"/>
                    </a:cubicBezTo>
                    <a:lnTo>
                      <a:pt x="59765" y="410456"/>
                    </a:lnTo>
                    <a:cubicBezTo>
                      <a:pt x="43914" y="410456"/>
                      <a:pt x="28713" y="404159"/>
                      <a:pt x="17505" y="392951"/>
                    </a:cubicBezTo>
                    <a:cubicBezTo>
                      <a:pt x="6297" y="381743"/>
                      <a:pt x="0" y="366541"/>
                      <a:pt x="0" y="350691"/>
                    </a:cubicBezTo>
                    <a:lnTo>
                      <a:pt x="0" y="59765"/>
                    </a:lnTo>
                    <a:cubicBezTo>
                      <a:pt x="0" y="43914"/>
                      <a:pt x="6297" y="28713"/>
                      <a:pt x="17505" y="17505"/>
                    </a:cubicBezTo>
                    <a:cubicBezTo>
                      <a:pt x="28713" y="6297"/>
                      <a:pt x="43914" y="0"/>
                      <a:pt x="5976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218483" cy="448556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799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Regression plot, heat map to understand the correlation of the features.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9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00350" y="2393897"/>
            <a:ext cx="12954000" cy="2288765"/>
            <a:chOff x="0" y="0"/>
            <a:chExt cx="17272000" cy="3051686"/>
          </a:xfrm>
        </p:grpSpPr>
        <p:grpSp>
          <p:nvGrpSpPr>
            <p:cNvPr id="3" name="Group 3"/>
            <p:cNvGrpSpPr/>
            <p:nvPr/>
          </p:nvGrpSpPr>
          <p:grpSpPr>
            <a:xfrm>
              <a:off x="263346" y="203200"/>
              <a:ext cx="17008654" cy="2540000"/>
              <a:chOff x="0" y="0"/>
              <a:chExt cx="2399810" cy="3583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99810" cy="358377"/>
              </a:xfrm>
              <a:custGeom>
                <a:avLst/>
                <a:gdLst/>
                <a:ahLst/>
                <a:cxnLst/>
                <a:rect l="l" t="t" r="r" b="b"/>
                <a:pathLst>
                  <a:path w="2399810" h="358377">
                    <a:moveTo>
                      <a:pt x="30345" y="0"/>
                    </a:moveTo>
                    <a:lnTo>
                      <a:pt x="2369465" y="0"/>
                    </a:lnTo>
                    <a:cubicBezTo>
                      <a:pt x="2377513" y="0"/>
                      <a:pt x="2385232" y="3197"/>
                      <a:pt x="2390922" y="8888"/>
                    </a:cubicBezTo>
                    <a:cubicBezTo>
                      <a:pt x="2396613" y="14579"/>
                      <a:pt x="2399810" y="22297"/>
                      <a:pt x="2399810" y="30345"/>
                    </a:cubicBezTo>
                    <a:lnTo>
                      <a:pt x="2399810" y="328032"/>
                    </a:lnTo>
                    <a:cubicBezTo>
                      <a:pt x="2399810" y="336080"/>
                      <a:pt x="2396613" y="343799"/>
                      <a:pt x="2390922" y="349490"/>
                    </a:cubicBezTo>
                    <a:cubicBezTo>
                      <a:pt x="2385232" y="355180"/>
                      <a:pt x="2377513" y="358377"/>
                      <a:pt x="2369465" y="358377"/>
                    </a:cubicBezTo>
                    <a:lnTo>
                      <a:pt x="30345" y="358377"/>
                    </a:lnTo>
                    <a:cubicBezTo>
                      <a:pt x="22297" y="358377"/>
                      <a:pt x="14579" y="355180"/>
                      <a:pt x="8888" y="349490"/>
                    </a:cubicBezTo>
                    <a:cubicBezTo>
                      <a:pt x="3197" y="343799"/>
                      <a:pt x="0" y="336080"/>
                      <a:pt x="0" y="328032"/>
                    </a:cubicBezTo>
                    <a:lnTo>
                      <a:pt x="0" y="30345"/>
                    </a:lnTo>
                    <a:cubicBezTo>
                      <a:pt x="0" y="22297"/>
                      <a:pt x="3197" y="14579"/>
                      <a:pt x="8888" y="8888"/>
                    </a:cubicBezTo>
                    <a:cubicBezTo>
                      <a:pt x="14579" y="3197"/>
                      <a:pt x="22297" y="0"/>
                      <a:pt x="30345" y="0"/>
                    </a:cubicBezTo>
                    <a:close/>
                  </a:path>
                </a:pathLst>
              </a:custGeom>
              <a:solidFill>
                <a:srgbClr val="CC7E3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99810" cy="39647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33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7068800" cy="3051686"/>
              <a:chOff x="0" y="0"/>
              <a:chExt cx="2408296" cy="4305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08296" cy="430573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430573">
                    <a:moveTo>
                      <a:pt x="30238" y="0"/>
                    </a:moveTo>
                    <a:lnTo>
                      <a:pt x="2378058" y="0"/>
                    </a:lnTo>
                    <a:cubicBezTo>
                      <a:pt x="2394758" y="0"/>
                      <a:pt x="2408296" y="13538"/>
                      <a:pt x="2408296" y="30238"/>
                    </a:cubicBezTo>
                    <a:lnTo>
                      <a:pt x="2408296" y="400335"/>
                    </a:lnTo>
                    <a:cubicBezTo>
                      <a:pt x="2408296" y="408355"/>
                      <a:pt x="2405110" y="416046"/>
                      <a:pt x="2399440" y="421717"/>
                    </a:cubicBezTo>
                    <a:cubicBezTo>
                      <a:pt x="2393769" y="427387"/>
                      <a:pt x="2386078" y="430573"/>
                      <a:pt x="2378058" y="430573"/>
                    </a:cubicBezTo>
                    <a:lnTo>
                      <a:pt x="30238" y="430573"/>
                    </a:lnTo>
                    <a:cubicBezTo>
                      <a:pt x="13538" y="430573"/>
                      <a:pt x="0" y="417035"/>
                      <a:pt x="0" y="400335"/>
                    </a:cubicBezTo>
                    <a:lnTo>
                      <a:pt x="0" y="30238"/>
                    </a:lnTo>
                    <a:cubicBezTo>
                      <a:pt x="0" y="22218"/>
                      <a:pt x="3186" y="14527"/>
                      <a:pt x="8857" y="8857"/>
                    </a:cubicBezTo>
                    <a:cubicBezTo>
                      <a:pt x="14527" y="3186"/>
                      <a:pt x="22218" y="0"/>
                      <a:pt x="302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408296" cy="459148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2470"/>
                  </a:lnSpc>
                </a:pPr>
                <a:r>
                  <a:rPr lang="en-US" sz="1900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Cross-Validation MSE Scores: [0.00067594  0.0006716  0.00067117  0.00066959  0.00067005] </a:t>
                </a:r>
              </a:p>
              <a:p>
                <a:pPr algn="ctr">
                  <a:lnSpc>
                    <a:spcPts val="2470"/>
                  </a:lnSpc>
                </a:pPr>
                <a:r>
                  <a:rPr lang="en-US" sz="1900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Mean CV MSE: 0.0006716691257500004</a:t>
                </a:r>
              </a:p>
              <a:p>
                <a:pPr algn="ctr">
                  <a:lnSpc>
                    <a:spcPts val="2470"/>
                  </a:lnSpc>
                </a:pPr>
                <a:r>
                  <a:rPr lang="en-US" sz="1900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 Overall Model Evaluation: </a:t>
                </a:r>
              </a:p>
              <a:p>
                <a:pPr algn="ctr">
                  <a:lnSpc>
                    <a:spcPts val="2470"/>
                  </a:lnSpc>
                </a:pPr>
                <a:r>
                  <a:rPr lang="en-US" sz="1900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Mean Squared Error: 0.0006716691257500004</a:t>
                </a:r>
              </a:p>
              <a:p>
                <a:pPr algn="ctr">
                  <a:lnSpc>
                    <a:spcPts val="2470"/>
                  </a:lnSpc>
                </a:pPr>
                <a:r>
                  <a:rPr lang="en-US" sz="1900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 Mean Absolute Error: 0.02041217900000001</a:t>
                </a:r>
              </a:p>
              <a:p>
                <a:pPr algn="ctr">
                  <a:lnSpc>
                    <a:spcPts val="2470"/>
                  </a:lnSpc>
                </a:pPr>
                <a:r>
                  <a:rPr lang="en-US" sz="1900">
                    <a:solidFill>
                      <a:srgbClr val="000001"/>
                    </a:solidFill>
                    <a:latin typeface="Klein"/>
                    <a:ea typeface="Klein"/>
                    <a:cs typeface="Klein"/>
                    <a:sym typeface="Klein"/>
                  </a:rPr>
                  <a:t> R^2 Score: 0.7316962416991346</a:t>
                </a: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-476250" y="-190500"/>
            <a:ext cx="19240500" cy="2381250"/>
            <a:chOff x="0" y="0"/>
            <a:chExt cx="25654000" cy="3175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CC7E3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33500" y="762000"/>
            <a:ext cx="15621000" cy="914400"/>
            <a:chOff x="0" y="0"/>
            <a:chExt cx="20828000" cy="1219200"/>
          </a:xfrm>
        </p:grpSpPr>
        <p:grpSp>
          <p:nvGrpSpPr>
            <p:cNvPr id="17" name="Group 17"/>
            <p:cNvGrpSpPr/>
            <p:nvPr/>
          </p:nvGrpSpPr>
          <p:grpSpPr>
            <a:xfrm>
              <a:off x="278635" y="203200"/>
              <a:ext cx="20549365" cy="1016000"/>
              <a:chOff x="0" y="0"/>
              <a:chExt cx="2899381" cy="14335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899381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2899381" h="143351">
                    <a:moveTo>
                      <a:pt x="25619" y="0"/>
                    </a:moveTo>
                    <a:lnTo>
                      <a:pt x="2873762" y="0"/>
                    </a:lnTo>
                    <a:cubicBezTo>
                      <a:pt x="2887911" y="0"/>
                      <a:pt x="2899381" y="11470"/>
                      <a:pt x="2899381" y="25619"/>
                    </a:cubicBezTo>
                    <a:lnTo>
                      <a:pt x="2899381" y="117732"/>
                    </a:lnTo>
                    <a:cubicBezTo>
                      <a:pt x="2899381" y="124527"/>
                      <a:pt x="2896682" y="131043"/>
                      <a:pt x="2891878" y="135847"/>
                    </a:cubicBezTo>
                    <a:cubicBezTo>
                      <a:pt x="2887073" y="140652"/>
                      <a:pt x="2880557" y="143351"/>
                      <a:pt x="2873762" y="143351"/>
                    </a:cubicBezTo>
                    <a:lnTo>
                      <a:pt x="25619" y="143351"/>
                    </a:lnTo>
                    <a:cubicBezTo>
                      <a:pt x="11470" y="143351"/>
                      <a:pt x="0" y="131881"/>
                      <a:pt x="0" y="117732"/>
                    </a:cubicBezTo>
                    <a:lnTo>
                      <a:pt x="0" y="25619"/>
                    </a:lnTo>
                    <a:cubicBezTo>
                      <a:pt x="0" y="18824"/>
                      <a:pt x="2699" y="12308"/>
                      <a:pt x="7504" y="7504"/>
                    </a:cubicBezTo>
                    <a:cubicBezTo>
                      <a:pt x="12308" y="2699"/>
                      <a:pt x="18824" y="0"/>
                      <a:pt x="25619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2899381" cy="1624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20549365" cy="1057546"/>
              <a:chOff x="0" y="0"/>
              <a:chExt cx="2899381" cy="1492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899381" cy="149213"/>
              </a:xfrm>
              <a:custGeom>
                <a:avLst/>
                <a:gdLst/>
                <a:ahLst/>
                <a:cxnLst/>
                <a:rect l="l" t="t" r="r" b="b"/>
                <a:pathLst>
                  <a:path w="2899381" h="149213">
                    <a:moveTo>
                      <a:pt x="25619" y="0"/>
                    </a:moveTo>
                    <a:lnTo>
                      <a:pt x="2873762" y="0"/>
                    </a:lnTo>
                    <a:cubicBezTo>
                      <a:pt x="2887911" y="0"/>
                      <a:pt x="2899381" y="11470"/>
                      <a:pt x="2899381" y="25619"/>
                    </a:cubicBezTo>
                    <a:lnTo>
                      <a:pt x="2899381" y="123594"/>
                    </a:lnTo>
                    <a:cubicBezTo>
                      <a:pt x="2899381" y="130389"/>
                      <a:pt x="2896682" y="136905"/>
                      <a:pt x="2891878" y="141709"/>
                    </a:cubicBezTo>
                    <a:cubicBezTo>
                      <a:pt x="2887073" y="146514"/>
                      <a:pt x="2880557" y="149213"/>
                      <a:pt x="2873762" y="149213"/>
                    </a:cubicBezTo>
                    <a:lnTo>
                      <a:pt x="25619" y="149213"/>
                    </a:lnTo>
                    <a:cubicBezTo>
                      <a:pt x="11470" y="149213"/>
                      <a:pt x="0" y="137743"/>
                      <a:pt x="0" y="123594"/>
                    </a:cubicBezTo>
                    <a:lnTo>
                      <a:pt x="0" y="25619"/>
                    </a:lnTo>
                    <a:cubicBezTo>
                      <a:pt x="0" y="18824"/>
                      <a:pt x="2699" y="12308"/>
                      <a:pt x="7504" y="7504"/>
                    </a:cubicBezTo>
                    <a:cubicBezTo>
                      <a:pt x="12308" y="2699"/>
                      <a:pt x="18824" y="0"/>
                      <a:pt x="2561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899381" cy="1873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549"/>
                  </a:lnSpc>
                </a:pPr>
                <a:r>
                  <a:rPr lang="en-US" sz="34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RESULTS</a:t>
                </a:r>
              </a:p>
            </p:txBody>
          </p:sp>
        </p:grpSp>
      </p:grpSp>
      <p:sp>
        <p:nvSpPr>
          <p:cNvPr id="23" name="Freeform 23"/>
          <p:cNvSpPr/>
          <p:nvPr/>
        </p:nvSpPr>
        <p:spPr>
          <a:xfrm>
            <a:off x="5281976" y="4882687"/>
            <a:ext cx="7990749" cy="5019040"/>
          </a:xfrm>
          <a:custGeom>
            <a:avLst/>
            <a:gdLst/>
            <a:ahLst/>
            <a:cxnLst/>
            <a:rect l="l" t="t" r="r" b="b"/>
            <a:pathLst>
              <a:path w="7990749" h="5019040">
                <a:moveTo>
                  <a:pt x="0" y="0"/>
                </a:moveTo>
                <a:lnTo>
                  <a:pt x="7990748" y="0"/>
                </a:lnTo>
                <a:lnTo>
                  <a:pt x="7990748" y="5019039"/>
                </a:lnTo>
                <a:lnTo>
                  <a:pt x="0" y="5019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01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9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0" y="-190500"/>
            <a:ext cx="19240500" cy="2381250"/>
            <a:chOff x="0" y="0"/>
            <a:chExt cx="25654000" cy="3175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5654000" cy="2984500"/>
              <a:chOff x="0" y="0"/>
              <a:chExt cx="5067457" cy="589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7457" cy="58953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8953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89531"/>
                    </a:lnTo>
                    <a:lnTo>
                      <a:pt x="0" y="589531"/>
                    </a:lnTo>
                    <a:close/>
                  </a:path>
                </a:pathLst>
              </a:custGeom>
              <a:solidFill>
                <a:srgbClr val="97D4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5067457" cy="6085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2921000"/>
              <a:ext cx="25654000" cy="254000"/>
              <a:chOff x="0" y="0"/>
              <a:chExt cx="5067457" cy="50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67457" cy="50173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50173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50173"/>
                    </a:lnTo>
                    <a:lnTo>
                      <a:pt x="0" y="50173"/>
                    </a:lnTo>
                    <a:close/>
                  </a:path>
                </a:pathLst>
              </a:custGeom>
              <a:solidFill>
                <a:srgbClr val="CC7E3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5067457" cy="692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333500" y="762000"/>
            <a:ext cx="15621000" cy="914400"/>
            <a:chOff x="0" y="0"/>
            <a:chExt cx="20828000" cy="1219200"/>
          </a:xfrm>
        </p:grpSpPr>
        <p:grpSp>
          <p:nvGrpSpPr>
            <p:cNvPr id="10" name="Group 10"/>
            <p:cNvGrpSpPr/>
            <p:nvPr/>
          </p:nvGrpSpPr>
          <p:grpSpPr>
            <a:xfrm>
              <a:off x="278635" y="203200"/>
              <a:ext cx="20549365" cy="1016000"/>
              <a:chOff x="0" y="0"/>
              <a:chExt cx="2899381" cy="1433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899381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2899381" h="143351">
                    <a:moveTo>
                      <a:pt x="25619" y="0"/>
                    </a:moveTo>
                    <a:lnTo>
                      <a:pt x="2873762" y="0"/>
                    </a:lnTo>
                    <a:cubicBezTo>
                      <a:pt x="2887911" y="0"/>
                      <a:pt x="2899381" y="11470"/>
                      <a:pt x="2899381" y="25619"/>
                    </a:cubicBezTo>
                    <a:lnTo>
                      <a:pt x="2899381" y="117732"/>
                    </a:lnTo>
                    <a:cubicBezTo>
                      <a:pt x="2899381" y="124527"/>
                      <a:pt x="2896682" y="131043"/>
                      <a:pt x="2891878" y="135847"/>
                    </a:cubicBezTo>
                    <a:cubicBezTo>
                      <a:pt x="2887073" y="140652"/>
                      <a:pt x="2880557" y="143351"/>
                      <a:pt x="2873762" y="143351"/>
                    </a:cubicBezTo>
                    <a:lnTo>
                      <a:pt x="25619" y="143351"/>
                    </a:lnTo>
                    <a:cubicBezTo>
                      <a:pt x="11470" y="143351"/>
                      <a:pt x="0" y="131881"/>
                      <a:pt x="0" y="117732"/>
                    </a:cubicBezTo>
                    <a:lnTo>
                      <a:pt x="0" y="25619"/>
                    </a:lnTo>
                    <a:cubicBezTo>
                      <a:pt x="0" y="18824"/>
                      <a:pt x="2699" y="12308"/>
                      <a:pt x="7504" y="7504"/>
                    </a:cubicBezTo>
                    <a:cubicBezTo>
                      <a:pt x="12308" y="2699"/>
                      <a:pt x="18824" y="0"/>
                      <a:pt x="25619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2899381" cy="1624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20549365" cy="1057546"/>
              <a:chOff x="0" y="0"/>
              <a:chExt cx="2899381" cy="1492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99381" cy="149213"/>
              </a:xfrm>
              <a:custGeom>
                <a:avLst/>
                <a:gdLst/>
                <a:ahLst/>
                <a:cxnLst/>
                <a:rect l="l" t="t" r="r" b="b"/>
                <a:pathLst>
                  <a:path w="2899381" h="149213">
                    <a:moveTo>
                      <a:pt x="25619" y="0"/>
                    </a:moveTo>
                    <a:lnTo>
                      <a:pt x="2873762" y="0"/>
                    </a:lnTo>
                    <a:cubicBezTo>
                      <a:pt x="2887911" y="0"/>
                      <a:pt x="2899381" y="11470"/>
                      <a:pt x="2899381" y="25619"/>
                    </a:cubicBezTo>
                    <a:lnTo>
                      <a:pt x="2899381" y="123594"/>
                    </a:lnTo>
                    <a:cubicBezTo>
                      <a:pt x="2899381" y="130389"/>
                      <a:pt x="2896682" y="136905"/>
                      <a:pt x="2891878" y="141709"/>
                    </a:cubicBezTo>
                    <a:cubicBezTo>
                      <a:pt x="2887073" y="146514"/>
                      <a:pt x="2880557" y="149213"/>
                      <a:pt x="2873762" y="149213"/>
                    </a:cubicBezTo>
                    <a:lnTo>
                      <a:pt x="25619" y="149213"/>
                    </a:lnTo>
                    <a:cubicBezTo>
                      <a:pt x="11470" y="149213"/>
                      <a:pt x="0" y="137743"/>
                      <a:pt x="0" y="123594"/>
                    </a:cubicBezTo>
                    <a:lnTo>
                      <a:pt x="0" y="25619"/>
                    </a:lnTo>
                    <a:cubicBezTo>
                      <a:pt x="0" y="18824"/>
                      <a:pt x="2699" y="12308"/>
                      <a:pt x="7504" y="7504"/>
                    </a:cubicBezTo>
                    <a:cubicBezTo>
                      <a:pt x="12308" y="2699"/>
                      <a:pt x="18824" y="0"/>
                      <a:pt x="2561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899381" cy="1873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549"/>
                  </a:lnSpc>
                </a:pPr>
                <a:r>
                  <a:rPr lang="en-US" sz="34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CORRELATION OF THE FEATURES </a:t>
                </a:r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4000209" y="2190750"/>
            <a:ext cx="10637617" cy="7911728"/>
          </a:xfrm>
          <a:custGeom>
            <a:avLst/>
            <a:gdLst/>
            <a:ahLst/>
            <a:cxnLst/>
            <a:rect l="l" t="t" r="r" b="b"/>
            <a:pathLst>
              <a:path w="10637617" h="7911728">
                <a:moveTo>
                  <a:pt x="0" y="0"/>
                </a:moveTo>
                <a:lnTo>
                  <a:pt x="10637617" y="0"/>
                </a:lnTo>
                <a:lnTo>
                  <a:pt x="10637617" y="7911728"/>
                </a:lnTo>
                <a:lnTo>
                  <a:pt x="0" y="7911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65B121EA-B2EC-AD57-0E08-9A47AA5FE030}"/>
              </a:ext>
            </a:extLst>
          </p:cNvPr>
          <p:cNvSpPr/>
          <p:nvPr/>
        </p:nvSpPr>
        <p:spPr>
          <a:xfrm>
            <a:off x="18749736" y="5302356"/>
            <a:ext cx="2203517" cy="2286000"/>
          </a:xfrm>
          <a:custGeom>
            <a:avLst/>
            <a:gdLst/>
            <a:ahLst/>
            <a:cxnLst/>
            <a:rect l="l" t="t" r="r" b="b"/>
            <a:pathLst>
              <a:path w="2203517" h="2286000">
                <a:moveTo>
                  <a:pt x="0" y="0"/>
                </a:moveTo>
                <a:lnTo>
                  <a:pt x="2203516" y="0"/>
                </a:lnTo>
                <a:lnTo>
                  <a:pt x="2203516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52972"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CFA42957-46DB-E554-0A68-3F9DFF2247E0}"/>
              </a:ext>
            </a:extLst>
          </p:cNvPr>
          <p:cNvSpPr/>
          <p:nvPr/>
        </p:nvSpPr>
        <p:spPr>
          <a:xfrm>
            <a:off x="18749736" y="2418872"/>
            <a:ext cx="2194560" cy="2286000"/>
          </a:xfrm>
          <a:custGeom>
            <a:avLst/>
            <a:gdLst/>
            <a:ahLst/>
            <a:cxnLst/>
            <a:rect l="l" t="t" r="r" b="b"/>
            <a:pathLst>
              <a:path w="2194560" h="2286000">
                <a:moveTo>
                  <a:pt x="0" y="0"/>
                </a:moveTo>
                <a:lnTo>
                  <a:pt x="2194560" y="0"/>
                </a:lnTo>
                <a:lnTo>
                  <a:pt x="219456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2F0E2D43-BC44-46A1-F9E0-4D9CAEB20DEB}"/>
              </a:ext>
            </a:extLst>
          </p:cNvPr>
          <p:cNvSpPr/>
          <p:nvPr/>
        </p:nvSpPr>
        <p:spPr>
          <a:xfrm>
            <a:off x="23444644" y="5415132"/>
            <a:ext cx="2286000" cy="2173224"/>
          </a:xfrm>
          <a:custGeom>
            <a:avLst/>
            <a:gdLst/>
            <a:ahLst/>
            <a:cxnLst/>
            <a:rect l="l" t="t" r="r" b="b"/>
            <a:pathLst>
              <a:path w="2286000" h="2173224">
                <a:moveTo>
                  <a:pt x="0" y="0"/>
                </a:moveTo>
                <a:lnTo>
                  <a:pt x="2286000" y="0"/>
                </a:lnTo>
                <a:lnTo>
                  <a:pt x="2286000" y="2173224"/>
                </a:lnTo>
                <a:lnTo>
                  <a:pt x="0" y="21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3E2EC8-03BE-E32D-12F9-CCE9071E069F}"/>
              </a:ext>
            </a:extLst>
          </p:cNvPr>
          <p:cNvSpPr/>
          <p:nvPr/>
        </p:nvSpPr>
        <p:spPr>
          <a:xfrm flipH="1">
            <a:off x="21300915" y="2418872"/>
            <a:ext cx="1662545" cy="2286000"/>
          </a:xfrm>
          <a:custGeom>
            <a:avLst/>
            <a:gdLst/>
            <a:ahLst/>
            <a:cxnLst/>
            <a:rect l="l" t="t" r="r" b="b"/>
            <a:pathLst>
              <a:path w="1662545" h="2286000">
                <a:moveTo>
                  <a:pt x="1662546" y="0"/>
                </a:moveTo>
                <a:lnTo>
                  <a:pt x="0" y="0"/>
                </a:lnTo>
                <a:lnTo>
                  <a:pt x="0" y="2286000"/>
                </a:lnTo>
                <a:lnTo>
                  <a:pt x="1662546" y="2286000"/>
                </a:lnTo>
                <a:lnTo>
                  <a:pt x="166254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8F50EF22-0F96-31A9-D2D6-9EED7104A43C}"/>
              </a:ext>
            </a:extLst>
          </p:cNvPr>
          <p:cNvSpPr/>
          <p:nvPr/>
        </p:nvSpPr>
        <p:spPr>
          <a:xfrm flipH="1">
            <a:off x="21300915" y="5302356"/>
            <a:ext cx="1662545" cy="2286000"/>
          </a:xfrm>
          <a:custGeom>
            <a:avLst/>
            <a:gdLst/>
            <a:ahLst/>
            <a:cxnLst/>
            <a:rect l="l" t="t" r="r" b="b"/>
            <a:pathLst>
              <a:path w="1662545" h="2286000">
                <a:moveTo>
                  <a:pt x="1662546" y="0"/>
                </a:moveTo>
                <a:lnTo>
                  <a:pt x="0" y="0"/>
                </a:lnTo>
                <a:lnTo>
                  <a:pt x="0" y="2286000"/>
                </a:lnTo>
                <a:lnTo>
                  <a:pt x="1662546" y="2286000"/>
                </a:lnTo>
                <a:lnTo>
                  <a:pt x="166254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656AE71A-1998-4836-4F95-3098B5E8DD05}"/>
              </a:ext>
            </a:extLst>
          </p:cNvPr>
          <p:cNvSpPr/>
          <p:nvPr/>
        </p:nvSpPr>
        <p:spPr>
          <a:xfrm>
            <a:off x="23444644" y="2418872"/>
            <a:ext cx="2286000" cy="2248593"/>
          </a:xfrm>
          <a:custGeom>
            <a:avLst/>
            <a:gdLst/>
            <a:ahLst/>
            <a:cxnLst/>
            <a:rect l="l" t="t" r="r" b="b"/>
            <a:pathLst>
              <a:path w="2286000" h="2248593">
                <a:moveTo>
                  <a:pt x="0" y="0"/>
                </a:moveTo>
                <a:lnTo>
                  <a:pt x="2286000" y="0"/>
                </a:lnTo>
                <a:lnTo>
                  <a:pt x="2286000" y="2248593"/>
                </a:lnTo>
                <a:lnTo>
                  <a:pt x="0" y="22485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72B41420-9E8A-5BC0-AF0D-082C486F0757}"/>
              </a:ext>
            </a:extLst>
          </p:cNvPr>
          <p:cNvGrpSpPr/>
          <p:nvPr/>
        </p:nvGrpSpPr>
        <p:grpSpPr>
          <a:xfrm>
            <a:off x="-762000" y="11010900"/>
            <a:ext cx="9012002" cy="10572750"/>
            <a:chOff x="0" y="0"/>
            <a:chExt cx="2373531" cy="2784593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6AB1E84C-499A-C92D-B61D-107E11085617}"/>
                </a:ext>
              </a:extLst>
            </p:cNvPr>
            <p:cNvSpPr/>
            <p:nvPr/>
          </p:nvSpPr>
          <p:spPr>
            <a:xfrm>
              <a:off x="0" y="0"/>
              <a:ext cx="2373531" cy="2784593"/>
            </a:xfrm>
            <a:custGeom>
              <a:avLst/>
              <a:gdLst/>
              <a:ahLst/>
              <a:cxnLst/>
              <a:rect l="l" t="t" r="r" b="b"/>
              <a:pathLst>
                <a:path w="2373531" h="2784593">
                  <a:moveTo>
                    <a:pt x="0" y="0"/>
                  </a:moveTo>
                  <a:lnTo>
                    <a:pt x="2373531" y="0"/>
                  </a:lnTo>
                  <a:lnTo>
                    <a:pt x="2373531" y="2784593"/>
                  </a:lnTo>
                  <a:lnTo>
                    <a:pt x="0" y="2784593"/>
                  </a:lnTo>
                  <a:close/>
                </a:path>
              </a:pathLst>
            </a:custGeom>
            <a:solidFill>
              <a:srgbClr val="97D4E8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85D23360-1889-3E05-3554-7E4CC75E8833}"/>
                </a:ext>
              </a:extLst>
            </p:cNvPr>
            <p:cNvSpPr txBox="1"/>
            <p:nvPr/>
          </p:nvSpPr>
          <p:spPr>
            <a:xfrm>
              <a:off x="0" y="-28575"/>
              <a:ext cx="2373531" cy="2813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2875" y="-142875"/>
            <a:ext cx="9012002" cy="10572750"/>
            <a:chOff x="0" y="0"/>
            <a:chExt cx="2373531" cy="2784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3531" cy="2784593"/>
            </a:xfrm>
            <a:custGeom>
              <a:avLst/>
              <a:gdLst/>
              <a:ahLst/>
              <a:cxnLst/>
              <a:rect l="l" t="t" r="r" b="b"/>
              <a:pathLst>
                <a:path w="2373531" h="2784593">
                  <a:moveTo>
                    <a:pt x="0" y="0"/>
                  </a:moveTo>
                  <a:lnTo>
                    <a:pt x="2373531" y="0"/>
                  </a:lnTo>
                  <a:lnTo>
                    <a:pt x="2373531" y="2784593"/>
                  </a:lnTo>
                  <a:lnTo>
                    <a:pt x="0" y="2784593"/>
                  </a:lnTo>
                  <a:close/>
                </a:path>
              </a:pathLst>
            </a:custGeom>
            <a:solidFill>
              <a:srgbClr val="97D4E8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73531" cy="2813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103171" y="4026484"/>
            <a:ext cx="2203517" cy="2286000"/>
          </a:xfrm>
          <a:custGeom>
            <a:avLst/>
            <a:gdLst/>
            <a:ahLst/>
            <a:cxnLst/>
            <a:rect l="l" t="t" r="r" b="b"/>
            <a:pathLst>
              <a:path w="2203517" h="2286000">
                <a:moveTo>
                  <a:pt x="0" y="0"/>
                </a:moveTo>
                <a:lnTo>
                  <a:pt x="2203516" y="0"/>
                </a:lnTo>
                <a:lnTo>
                  <a:pt x="2203516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2972"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0103171" y="1143000"/>
            <a:ext cx="2194560" cy="2286000"/>
          </a:xfrm>
          <a:custGeom>
            <a:avLst/>
            <a:gdLst/>
            <a:ahLst/>
            <a:cxnLst/>
            <a:rect l="l" t="t" r="r" b="b"/>
            <a:pathLst>
              <a:path w="2194560" h="2286000">
                <a:moveTo>
                  <a:pt x="0" y="0"/>
                </a:moveTo>
                <a:lnTo>
                  <a:pt x="2194560" y="0"/>
                </a:lnTo>
                <a:lnTo>
                  <a:pt x="219456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98079" y="4139260"/>
            <a:ext cx="2286000" cy="2173224"/>
          </a:xfrm>
          <a:custGeom>
            <a:avLst/>
            <a:gdLst/>
            <a:ahLst/>
            <a:cxnLst/>
            <a:rect l="l" t="t" r="r" b="b"/>
            <a:pathLst>
              <a:path w="2286000" h="2173224">
                <a:moveTo>
                  <a:pt x="0" y="0"/>
                </a:moveTo>
                <a:lnTo>
                  <a:pt x="2286000" y="0"/>
                </a:lnTo>
                <a:lnTo>
                  <a:pt x="2286000" y="2173224"/>
                </a:lnTo>
                <a:lnTo>
                  <a:pt x="0" y="2173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654350" y="1143000"/>
            <a:ext cx="1662545" cy="2286000"/>
          </a:xfrm>
          <a:custGeom>
            <a:avLst/>
            <a:gdLst/>
            <a:ahLst/>
            <a:cxnLst/>
            <a:rect l="l" t="t" r="r" b="b"/>
            <a:pathLst>
              <a:path w="1662545" h="2286000">
                <a:moveTo>
                  <a:pt x="1662546" y="0"/>
                </a:moveTo>
                <a:lnTo>
                  <a:pt x="0" y="0"/>
                </a:lnTo>
                <a:lnTo>
                  <a:pt x="0" y="2286000"/>
                </a:lnTo>
                <a:lnTo>
                  <a:pt x="1662546" y="2286000"/>
                </a:lnTo>
                <a:lnTo>
                  <a:pt x="16625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>
            <a:off x="12654350" y="4026484"/>
            <a:ext cx="1662545" cy="2286000"/>
          </a:xfrm>
          <a:custGeom>
            <a:avLst/>
            <a:gdLst/>
            <a:ahLst/>
            <a:cxnLst/>
            <a:rect l="l" t="t" r="r" b="b"/>
            <a:pathLst>
              <a:path w="1662545" h="2286000">
                <a:moveTo>
                  <a:pt x="1662546" y="0"/>
                </a:moveTo>
                <a:lnTo>
                  <a:pt x="0" y="0"/>
                </a:lnTo>
                <a:lnTo>
                  <a:pt x="0" y="2286000"/>
                </a:lnTo>
                <a:lnTo>
                  <a:pt x="1662546" y="2286000"/>
                </a:lnTo>
                <a:lnTo>
                  <a:pt x="166254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4798079" y="1143000"/>
            <a:ext cx="2286000" cy="2248593"/>
          </a:xfrm>
          <a:custGeom>
            <a:avLst/>
            <a:gdLst/>
            <a:ahLst/>
            <a:cxnLst/>
            <a:rect l="l" t="t" r="r" b="b"/>
            <a:pathLst>
              <a:path w="2286000" h="2248593">
                <a:moveTo>
                  <a:pt x="0" y="0"/>
                </a:moveTo>
                <a:lnTo>
                  <a:pt x="2286000" y="0"/>
                </a:lnTo>
                <a:lnTo>
                  <a:pt x="2286000" y="2248593"/>
                </a:lnTo>
                <a:lnTo>
                  <a:pt x="0" y="22485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1028700" y="450217"/>
            <a:ext cx="6077238" cy="113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84"/>
              </a:lnSpc>
              <a:spcBef>
                <a:spcPct val="0"/>
              </a:spcBef>
            </a:pPr>
            <a:r>
              <a:rPr lang="en-US" sz="7985" b="1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328" y="1760233"/>
            <a:ext cx="8545756" cy="471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98%+ accuracy across all classes on SVM</a:t>
            </a:r>
          </a:p>
          <a:p>
            <a:pPr marL="561342" lvl="1" indent="-280671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Robust results even under Stratified K-Fold Cross-Validation, indicating excellent generalizability.</a:t>
            </a:r>
          </a:p>
          <a:p>
            <a:pPr marL="561342" lvl="1" indent="-280671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Random Forest offers better interpretability and is effective in capturing complex, non-linear relationships in data.</a:t>
            </a:r>
          </a:p>
          <a:p>
            <a:pPr marL="561342" lvl="1" indent="-280671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Useful for understanding feature importance and probabilistic risk scoring.</a:t>
            </a: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1"/>
              </a:solidFill>
              <a:latin typeface="Klein"/>
              <a:ea typeface="Klein"/>
              <a:cs typeface="Klein"/>
              <a:sym typeface="Klein"/>
            </a:endParaRP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1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3371" y="6064199"/>
            <a:ext cx="8173671" cy="3934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rPr>
              <a:t>Future Directions</a:t>
            </a:r>
          </a:p>
          <a:p>
            <a:pPr marL="496574" lvl="1" indent="-248287" algn="l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Explore hybrid models (e.g., combining SVM and deep learning).</a:t>
            </a:r>
          </a:p>
          <a:p>
            <a:pPr marL="496574" lvl="1" indent="-248287" algn="l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Integrate real-time sensor and satellite data for dynamic prediction.</a:t>
            </a:r>
          </a:p>
          <a:p>
            <a:pPr marL="496574" lvl="1" indent="-248287" algn="l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Apply explainable AI techniques to enhance trust and transparency in predictions.</a:t>
            </a:r>
          </a:p>
          <a:p>
            <a:pPr marL="496574" lvl="1" indent="-248287" algn="l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Extend the system for multi-hazard scenarios (e.g., flood + landslide).</a:t>
            </a:r>
          </a:p>
          <a:p>
            <a:pPr algn="l">
              <a:lnSpc>
                <a:spcPts val="2990"/>
              </a:lnSpc>
            </a:pPr>
            <a:endParaRPr lang="en-US" sz="2300">
              <a:solidFill>
                <a:srgbClr val="000001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25000" y="6874459"/>
            <a:ext cx="8173671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2900" b="1">
                <a:solidFill>
                  <a:srgbClr val="000001"/>
                </a:solidFill>
                <a:latin typeface="Klein Bold"/>
                <a:ea typeface="Klein Bold"/>
                <a:cs typeface="Klein Bold"/>
                <a:sym typeface="Klein Bold"/>
              </a:rPr>
              <a:t>Why use both?</a:t>
            </a:r>
          </a:p>
          <a:p>
            <a:pPr marL="626111" lvl="1" indent="-313055" algn="l">
              <a:lnSpc>
                <a:spcPts val="3770"/>
              </a:lnSpc>
              <a:buFont typeface="Arial"/>
              <a:buChar char="•"/>
            </a:pPr>
            <a:r>
              <a:rPr lang="en-US" sz="29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Each model brings unique strengths: SVM for crisp classification and RF for flexible regression.</a:t>
            </a:r>
          </a:p>
          <a:p>
            <a:pPr marL="626111" lvl="1" indent="-313055" algn="l">
              <a:lnSpc>
                <a:spcPts val="3770"/>
              </a:lnSpc>
              <a:buFont typeface="Arial"/>
              <a:buChar char="•"/>
            </a:pPr>
            <a:r>
              <a:rPr lang="en-US" sz="29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They can complement each other in a hybrid or ensemble setup.</a:t>
            </a:r>
          </a:p>
          <a:p>
            <a:pPr algn="l">
              <a:lnSpc>
                <a:spcPts val="2080"/>
              </a:lnSpc>
            </a:pPr>
            <a:endParaRPr lang="en-US" sz="2900">
              <a:solidFill>
                <a:srgbClr val="000001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AB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34024" y="-1542334"/>
            <a:ext cx="25756049" cy="8590652"/>
            <a:chOff x="0" y="0"/>
            <a:chExt cx="34341398" cy="114542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54203" cy="11454203"/>
            </a:xfrm>
            <a:custGeom>
              <a:avLst/>
              <a:gdLst/>
              <a:ahLst/>
              <a:cxnLst/>
              <a:rect l="l" t="t" r="r" b="b"/>
              <a:pathLst>
                <a:path w="11454203" h="11454203">
                  <a:moveTo>
                    <a:pt x="0" y="0"/>
                  </a:moveTo>
                  <a:lnTo>
                    <a:pt x="11454203" y="0"/>
                  </a:lnTo>
                  <a:lnTo>
                    <a:pt x="11454203" y="11454203"/>
                  </a:lnTo>
                  <a:lnTo>
                    <a:pt x="0" y="1145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443597" y="0"/>
              <a:ext cx="11454203" cy="11454203"/>
            </a:xfrm>
            <a:custGeom>
              <a:avLst/>
              <a:gdLst/>
              <a:ahLst/>
              <a:cxnLst/>
              <a:rect l="l" t="t" r="r" b="b"/>
              <a:pathLst>
                <a:path w="11454203" h="11454203">
                  <a:moveTo>
                    <a:pt x="0" y="0"/>
                  </a:moveTo>
                  <a:lnTo>
                    <a:pt x="11454204" y="0"/>
                  </a:lnTo>
                  <a:lnTo>
                    <a:pt x="11454204" y="11454203"/>
                  </a:lnTo>
                  <a:lnTo>
                    <a:pt x="0" y="1145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2887195" y="0"/>
              <a:ext cx="11454203" cy="11454203"/>
            </a:xfrm>
            <a:custGeom>
              <a:avLst/>
              <a:gdLst/>
              <a:ahLst/>
              <a:cxnLst/>
              <a:rect l="l" t="t" r="r" b="b"/>
              <a:pathLst>
                <a:path w="11454203" h="11454203">
                  <a:moveTo>
                    <a:pt x="0" y="0"/>
                  </a:moveTo>
                  <a:lnTo>
                    <a:pt x="11454203" y="0"/>
                  </a:lnTo>
                  <a:lnTo>
                    <a:pt x="11454203" y="11454203"/>
                  </a:lnTo>
                  <a:lnTo>
                    <a:pt x="0" y="1145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-3734024" y="7048319"/>
            <a:ext cx="25756049" cy="8590652"/>
            <a:chOff x="0" y="0"/>
            <a:chExt cx="34341398" cy="114542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4203" cy="11454203"/>
            </a:xfrm>
            <a:custGeom>
              <a:avLst/>
              <a:gdLst/>
              <a:ahLst/>
              <a:cxnLst/>
              <a:rect l="l" t="t" r="r" b="b"/>
              <a:pathLst>
                <a:path w="11454203" h="11454203">
                  <a:moveTo>
                    <a:pt x="0" y="0"/>
                  </a:moveTo>
                  <a:lnTo>
                    <a:pt x="11454203" y="0"/>
                  </a:lnTo>
                  <a:lnTo>
                    <a:pt x="11454203" y="11454203"/>
                  </a:lnTo>
                  <a:lnTo>
                    <a:pt x="0" y="1145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11443597" y="0"/>
              <a:ext cx="11454203" cy="11454203"/>
            </a:xfrm>
            <a:custGeom>
              <a:avLst/>
              <a:gdLst/>
              <a:ahLst/>
              <a:cxnLst/>
              <a:rect l="l" t="t" r="r" b="b"/>
              <a:pathLst>
                <a:path w="11454203" h="11454203">
                  <a:moveTo>
                    <a:pt x="0" y="0"/>
                  </a:moveTo>
                  <a:lnTo>
                    <a:pt x="11454204" y="0"/>
                  </a:lnTo>
                  <a:lnTo>
                    <a:pt x="11454204" y="11454203"/>
                  </a:lnTo>
                  <a:lnTo>
                    <a:pt x="0" y="1145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>
              <a:off x="22887195" y="0"/>
              <a:ext cx="11454203" cy="11454203"/>
            </a:xfrm>
            <a:custGeom>
              <a:avLst/>
              <a:gdLst/>
              <a:ahLst/>
              <a:cxnLst/>
              <a:rect l="l" t="t" r="r" b="b"/>
              <a:pathLst>
                <a:path w="11454203" h="11454203">
                  <a:moveTo>
                    <a:pt x="0" y="0"/>
                  </a:moveTo>
                  <a:lnTo>
                    <a:pt x="11454203" y="0"/>
                  </a:lnTo>
                  <a:lnTo>
                    <a:pt x="11454203" y="11454203"/>
                  </a:lnTo>
                  <a:lnTo>
                    <a:pt x="0" y="1145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238750" y="4449584"/>
            <a:ext cx="7048500" cy="1843842"/>
            <a:chOff x="0" y="0"/>
            <a:chExt cx="1929313" cy="5046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29313" cy="504696"/>
            </a:xfrm>
            <a:custGeom>
              <a:avLst/>
              <a:gdLst/>
              <a:ahLst/>
              <a:cxnLst/>
              <a:rect l="l" t="t" r="r" b="b"/>
              <a:pathLst>
                <a:path w="1929313" h="504696">
                  <a:moveTo>
                    <a:pt x="56017" y="0"/>
                  </a:moveTo>
                  <a:lnTo>
                    <a:pt x="1873296" y="0"/>
                  </a:lnTo>
                  <a:cubicBezTo>
                    <a:pt x="1904233" y="0"/>
                    <a:pt x="1929313" y="25080"/>
                    <a:pt x="1929313" y="56017"/>
                  </a:cubicBezTo>
                  <a:lnTo>
                    <a:pt x="1929313" y="448679"/>
                  </a:lnTo>
                  <a:cubicBezTo>
                    <a:pt x="1929313" y="463535"/>
                    <a:pt x="1923411" y="477783"/>
                    <a:pt x="1912906" y="488289"/>
                  </a:cubicBezTo>
                  <a:cubicBezTo>
                    <a:pt x="1902401" y="498794"/>
                    <a:pt x="1888152" y="504696"/>
                    <a:pt x="1873296" y="504696"/>
                  </a:cubicBezTo>
                  <a:lnTo>
                    <a:pt x="56017" y="504696"/>
                  </a:lnTo>
                  <a:cubicBezTo>
                    <a:pt x="25080" y="504696"/>
                    <a:pt x="0" y="479616"/>
                    <a:pt x="0" y="448679"/>
                  </a:cubicBezTo>
                  <a:lnTo>
                    <a:pt x="0" y="56017"/>
                  </a:lnTo>
                  <a:cubicBezTo>
                    <a:pt x="0" y="41161"/>
                    <a:pt x="5902" y="26912"/>
                    <a:pt x="16407" y="16407"/>
                  </a:cubicBezTo>
                  <a:cubicBezTo>
                    <a:pt x="26912" y="5902"/>
                    <a:pt x="41161" y="0"/>
                    <a:pt x="5601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76225"/>
              <a:ext cx="1929313" cy="78092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0" indent="0" algn="ctr">
                <a:lnSpc>
                  <a:spcPts val="11359"/>
                </a:lnSpc>
              </a:pPr>
              <a:r>
                <a:rPr lang="en-US" sz="7099" b="1" dirty="0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THANK YOU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922</Words>
  <Application>Microsoft Office PowerPoint</Application>
  <PresentationFormat>Custom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Klein</vt:lpstr>
      <vt:lpstr>Klein Bold</vt:lpstr>
      <vt:lpstr>Klein Heavy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Floods The Role of Rainfall and Water Use Data Quiz Presentation in Blue Green Flat Cartoon Style</dc:title>
  <cp:lastModifiedBy>MY.SC.I5MCA21039 - Saran Shabu</cp:lastModifiedBy>
  <cp:revision>5</cp:revision>
  <dcterms:created xsi:type="dcterms:W3CDTF">2006-08-16T00:00:00Z</dcterms:created>
  <dcterms:modified xsi:type="dcterms:W3CDTF">2025-04-22T07:32:20Z</dcterms:modified>
  <dc:identifier>DAGlUO93-r8</dc:identifier>
</cp:coreProperties>
</file>